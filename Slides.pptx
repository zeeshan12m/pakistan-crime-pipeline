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3" d="100"/>
          <a:sy n="83" d="100"/>
        </p:scale>
        <p:origin x="65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83661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7A8796"/>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7A8796"/>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github.com/Zeeshan12m/pakistan-crime-pipeline"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822960"/>
            <a:ext cx="10972800" cy="502920"/>
          </a:xfrm>
          <a:prstGeom prst="rect">
            <a:avLst/>
          </a:prstGeom>
          <a:noFill/>
          <a:ln/>
        </p:spPr>
        <p:txBody>
          <a:bodyPr wrap="square" lIns="0" tIns="0" rIns="0" bIns="0" rtlCol="0" anchor="ctr">
            <a:normAutofit lnSpcReduction="10000"/>
          </a:bodyPr>
          <a:lstStyle/>
          <a:p>
            <a:pPr marL="0" indent="0">
              <a:buNone/>
            </a:pPr>
            <a:r>
              <a:rPr lang="en-US" sz="3400" b="1" dirty="0">
                <a:solidFill>
                  <a:srgbClr val="073B72"/>
                </a:solidFill>
              </a:rPr>
              <a:t>Pakistan Crime and Safety Data Pipeline </a:t>
            </a:r>
            <a:endParaRPr lang="en-US" sz="3400" dirty="0"/>
          </a:p>
        </p:txBody>
      </p:sp>
      <p:sp>
        <p:nvSpPr>
          <p:cNvPr id="3" name="Text 1"/>
          <p:cNvSpPr/>
          <p:nvPr/>
        </p:nvSpPr>
        <p:spPr>
          <a:xfrm>
            <a:off x="658368" y="1463040"/>
            <a:ext cx="10515600" cy="320040"/>
          </a:xfrm>
          <a:prstGeom prst="rect">
            <a:avLst/>
          </a:prstGeom>
          <a:noFill/>
          <a:ln/>
        </p:spPr>
        <p:txBody>
          <a:bodyPr wrap="square" lIns="0" tIns="0" rIns="0" bIns="0" rtlCol="0" anchor="ctr"/>
          <a:lstStyle/>
          <a:p>
            <a:pPr marL="0" indent="0">
              <a:buNone/>
            </a:pPr>
            <a:r>
              <a:rPr lang="en-US" sz="1900" dirty="0">
                <a:solidFill>
                  <a:srgbClr val="56606B"/>
                </a:solidFill>
              </a:rPr>
              <a:t>Tools &amp; Techniques End-to-End Data Pipeline Project</a:t>
            </a:r>
            <a:endParaRPr lang="en-US" sz="1900" dirty="0"/>
          </a:p>
        </p:txBody>
      </p:sp>
      <p:sp>
        <p:nvSpPr>
          <p:cNvPr id="4" name="Text 2"/>
          <p:cNvSpPr/>
          <p:nvPr/>
        </p:nvSpPr>
        <p:spPr>
          <a:xfrm>
            <a:off x="685800" y="2148840"/>
            <a:ext cx="7315200" cy="411480"/>
          </a:xfrm>
          <a:prstGeom prst="rect">
            <a:avLst/>
          </a:prstGeom>
          <a:noFill/>
          <a:ln/>
        </p:spPr>
        <p:txBody>
          <a:bodyPr wrap="square" lIns="0" tIns="0" rIns="0" bIns="0" rtlCol="0" anchor="ctr">
            <a:normAutofit fontScale="92500" lnSpcReduction="20000"/>
          </a:bodyPr>
          <a:lstStyle/>
          <a:p>
            <a:pPr marL="0" indent="0">
              <a:buNone/>
            </a:pPr>
            <a:r>
              <a:rPr lang="en-US" sz="1600" dirty="0">
                <a:solidFill>
                  <a:srgbClr val="1F2937"/>
                </a:solidFill>
              </a:rPr>
              <a:t>Replace placeholders with your project evidence, screenshots, live links, and contribution proof.</a:t>
            </a:r>
            <a:endParaRPr lang="en-US" sz="1600" dirty="0"/>
          </a:p>
        </p:txBody>
      </p:sp>
      <p:sp>
        <p:nvSpPr>
          <p:cNvPr id="5" name="Text 3"/>
          <p:cNvSpPr/>
          <p:nvPr/>
        </p:nvSpPr>
        <p:spPr>
          <a:xfrm>
            <a:off x="713232" y="3977640"/>
            <a:ext cx="5595204" cy="1234440"/>
          </a:xfrm>
          <a:prstGeom prst="rect">
            <a:avLst/>
          </a:prstGeom>
          <a:solidFill>
            <a:srgbClr val="EAF3FF"/>
          </a:solidFill>
          <a:ln w="10160">
            <a:solidFill>
              <a:srgbClr val="C8D1DD"/>
            </a:solidFill>
          </a:ln>
        </p:spPr>
        <p:txBody>
          <a:bodyPr wrap="square" lIns="1778" tIns="1778" rIns="1778" bIns="1778" rtlCol="0" anchor="ctr">
            <a:normAutofit/>
          </a:bodyPr>
          <a:lstStyle/>
          <a:p>
            <a:pPr marL="0" indent="0">
              <a:buNone/>
            </a:pPr>
            <a:r>
              <a:rPr lang="en-US" sz="1700" dirty="0">
                <a:solidFill>
                  <a:srgbClr val="073B72"/>
                </a:solidFill>
              </a:rPr>
              <a:t>Group No:  05</a:t>
            </a:r>
            <a:endParaRPr lang="en-US" sz="1700" dirty="0"/>
          </a:p>
          <a:p>
            <a:pPr marL="0" indent="0">
              <a:buNone/>
            </a:pPr>
            <a:r>
              <a:rPr lang="en-US" sz="1700" dirty="0">
                <a:solidFill>
                  <a:srgbClr val="073B72"/>
                </a:solidFill>
              </a:rPr>
              <a:t>Project Title: Pakistan Crime and Safety Data Pipeline</a:t>
            </a:r>
            <a:endParaRPr lang="en-US" sz="1700" dirty="0"/>
          </a:p>
          <a:p>
            <a:pPr marL="0" indent="0">
              <a:buNone/>
            </a:pPr>
            <a:r>
              <a:rPr lang="en-US" sz="1700" dirty="0">
                <a:solidFill>
                  <a:srgbClr val="073B72"/>
                </a:solidFill>
              </a:rPr>
              <a:t>Members: M. Zeeshan Zahid, M. Yahya, Syed Minhal Naqvi</a:t>
            </a:r>
            <a:endParaRPr lang="en-US" sz="1700" dirty="0"/>
          </a:p>
          <a:p>
            <a:pPr marL="0" indent="0">
              <a:buNone/>
            </a:pPr>
            <a:r>
              <a:rPr lang="en-US" sz="1700" dirty="0">
                <a:solidFill>
                  <a:srgbClr val="073B72"/>
                </a:solidFill>
              </a:rPr>
              <a:t>Instructor: M. Rizwan</a:t>
            </a:r>
            <a:endParaRPr lang="en-US" sz="1700" dirty="0"/>
          </a:p>
        </p:txBody>
      </p:sp>
      <p:sp>
        <p:nvSpPr>
          <p:cNvPr id="7" name="Text 5"/>
          <p:cNvSpPr/>
          <p:nvPr/>
        </p:nvSpPr>
        <p:spPr>
          <a:xfrm>
            <a:off x="411480" y="6510528"/>
            <a:ext cx="6858000" cy="164592"/>
          </a:xfrm>
          <a:prstGeom prst="rect">
            <a:avLst/>
          </a:prstGeom>
          <a:noFill/>
          <a:ln/>
        </p:spPr>
        <p:txBody>
          <a:bodyPr wrap="square" lIns="0" tIns="0" rIns="0" bIns="0" rtlCol="0" anchor="ctr">
            <a:normAutofit/>
          </a:bodyPr>
          <a:lstStyle/>
          <a:p>
            <a:pPr marL="0" indent="0">
              <a:buNone/>
            </a:pPr>
            <a:r>
              <a:rPr lang="en-US" sz="780" dirty="0">
                <a:solidFill>
                  <a:srgbClr val="7A8796"/>
                </a:solidFill>
              </a:rPr>
              <a:t>Tools &amp; Techniques End-to-End Data Pipeline Capstone</a:t>
            </a:r>
            <a:endParaRPr lang="en-US" sz="780" dirty="0"/>
          </a:p>
        </p:txBody>
      </p:sp>
      <p:sp>
        <p:nvSpPr>
          <p:cNvPr id="25" name="Slide Number Placeholder 0"/>
          <p:cNvSpPr>
            <a:spLocks noGrp="1"/>
          </p:cNvSpPr>
          <p:nvPr>
            <p:ph type="sldNum" sz="quarter" idx="4294967295"/>
          </p:nvPr>
        </p:nvSpPr>
        <p:spPr>
          <a:xfrm>
            <a:off x="1120140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7A8796"/>
                </a:solidFill>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11480" y="256032"/>
            <a:ext cx="11338560" cy="411480"/>
          </a:xfrm>
          <a:prstGeom prst="rect">
            <a:avLst/>
          </a:prstGeom>
          <a:noFill/>
          <a:ln/>
        </p:spPr>
        <p:txBody>
          <a:bodyPr wrap="square" lIns="0" tIns="0" rIns="0" bIns="0" rtlCol="0" anchor="ctr">
            <a:normAutofit/>
          </a:bodyPr>
          <a:lstStyle/>
          <a:p>
            <a:pPr marL="0" indent="0">
              <a:buNone/>
            </a:pPr>
            <a:r>
              <a:rPr lang="en-US" sz="2500" b="1" dirty="0">
                <a:solidFill>
                  <a:srgbClr val="073B72"/>
                </a:solidFill>
                <a:latin typeface="Aptos Display" pitchFamily="34" charset="0"/>
                <a:ea typeface="Aptos Display" pitchFamily="34" charset="-122"/>
                <a:cs typeface="Aptos Display" pitchFamily="34" charset="-120"/>
              </a:rPr>
              <a:t>Course Tools Roadmap and Project Scope</a:t>
            </a:r>
            <a:endParaRPr lang="en-US" sz="2500" dirty="0"/>
          </a:p>
        </p:txBody>
      </p:sp>
      <p:sp>
        <p:nvSpPr>
          <p:cNvPr id="3" name="Text 1"/>
          <p:cNvSpPr/>
          <p:nvPr/>
        </p:nvSpPr>
        <p:spPr>
          <a:xfrm>
            <a:off x="429768" y="713232"/>
            <a:ext cx="11247120" cy="256032"/>
          </a:xfrm>
          <a:prstGeom prst="rect">
            <a:avLst/>
          </a:prstGeom>
          <a:noFill/>
          <a:ln/>
        </p:spPr>
        <p:txBody>
          <a:bodyPr wrap="square" lIns="0" tIns="0" rIns="0" bIns="0" rtlCol="0" anchor="ctr">
            <a:normAutofit/>
          </a:bodyPr>
          <a:lstStyle/>
          <a:p>
            <a:r>
              <a:rPr lang="en-PK" sz="1200" dirty="0"/>
              <a:t>Automated collection, processing, visualization and alert generation for crime incidents reported across Pakistan using publicly available news sources</a:t>
            </a:r>
            <a:r>
              <a:rPr lang="en-US" sz="1150" dirty="0">
                <a:solidFill>
                  <a:srgbClr val="56606B"/>
                </a:solidFill>
              </a:rPr>
              <a:t>.</a:t>
            </a:r>
            <a:endParaRPr lang="en-US" sz="1150" dirty="0"/>
          </a:p>
        </p:txBody>
      </p:sp>
      <p:sp>
        <p:nvSpPr>
          <p:cNvPr id="4" name="Shape 2"/>
          <p:cNvSpPr/>
          <p:nvPr/>
        </p:nvSpPr>
        <p:spPr>
          <a:xfrm>
            <a:off x="411480" y="1024128"/>
            <a:ext cx="11338560" cy="0"/>
          </a:xfrm>
          <a:prstGeom prst="line">
            <a:avLst/>
          </a:prstGeom>
          <a:noFill/>
          <a:ln w="12700">
            <a:solidFill>
              <a:srgbClr val="C8D1DD"/>
            </a:solidFill>
            <a:prstDash val="solid"/>
          </a:ln>
        </p:spPr>
      </p:sp>
      <p:sp>
        <p:nvSpPr>
          <p:cNvPr id="5" name="Text 3"/>
          <p:cNvSpPr/>
          <p:nvPr/>
        </p:nvSpPr>
        <p:spPr>
          <a:xfrm>
            <a:off x="411480" y="6510528"/>
            <a:ext cx="6858000" cy="164592"/>
          </a:xfrm>
          <a:prstGeom prst="rect">
            <a:avLst/>
          </a:prstGeom>
          <a:noFill/>
          <a:ln/>
        </p:spPr>
        <p:txBody>
          <a:bodyPr wrap="square" lIns="0" tIns="0" rIns="0" bIns="0" rtlCol="0" anchor="ctr">
            <a:normAutofit/>
          </a:bodyPr>
          <a:lstStyle/>
          <a:p>
            <a:pPr marL="0" indent="0">
              <a:buNone/>
            </a:pPr>
            <a:r>
              <a:rPr lang="en-US" sz="780" dirty="0">
                <a:solidFill>
                  <a:srgbClr val="7A8796"/>
                </a:solidFill>
              </a:rPr>
              <a:t>Tools &amp; Techniques End-to-End Data Pipeline Capstone</a:t>
            </a:r>
            <a:endParaRPr lang="en-US" sz="780" dirty="0"/>
          </a:p>
        </p:txBody>
      </p:sp>
      <p:pic>
        <p:nvPicPr>
          <p:cNvPr id="6" name="Image 0" descr="/mnt/data/Road Map.png"/>
          <p:cNvPicPr>
            <a:picLocks noChangeAspect="1"/>
          </p:cNvPicPr>
          <p:nvPr/>
        </p:nvPicPr>
        <p:blipFill>
          <a:blip r:embed="rId3"/>
          <a:srcRect t="16739" b="16739"/>
          <a:stretch/>
        </p:blipFill>
        <p:spPr>
          <a:xfrm>
            <a:off x="685800" y="1325880"/>
            <a:ext cx="10515600" cy="4663440"/>
          </a:xfrm>
          <a:prstGeom prst="rect">
            <a:avLst/>
          </a:prstGeom>
        </p:spPr>
      </p:pic>
      <p:sp>
        <p:nvSpPr>
          <p:cNvPr id="25" name="Slide Number Placeholder 0"/>
          <p:cNvSpPr>
            <a:spLocks noGrp="1"/>
          </p:cNvSpPr>
          <p:nvPr>
            <p:ph type="sldNum" sz="quarter" idx="4294967295"/>
          </p:nvPr>
        </p:nvSpPr>
        <p:spPr>
          <a:xfrm>
            <a:off x="1120140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7A8796"/>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11480" y="256032"/>
            <a:ext cx="11338560" cy="411480"/>
          </a:xfrm>
          <a:prstGeom prst="rect">
            <a:avLst/>
          </a:prstGeom>
          <a:noFill/>
          <a:ln/>
        </p:spPr>
        <p:txBody>
          <a:bodyPr wrap="square" lIns="0" tIns="0" rIns="0" bIns="0" rtlCol="0" anchor="ctr">
            <a:normAutofit/>
          </a:bodyPr>
          <a:lstStyle/>
          <a:p>
            <a:pPr marL="0" indent="0">
              <a:buNone/>
            </a:pPr>
            <a:r>
              <a:rPr lang="en-US" sz="2500" b="1" dirty="0">
                <a:solidFill>
                  <a:srgbClr val="073B72"/>
                </a:solidFill>
                <a:latin typeface="Aptos Display" pitchFamily="34" charset="0"/>
                <a:ea typeface="Aptos Display" pitchFamily="34" charset="-122"/>
                <a:cs typeface="Aptos Display" pitchFamily="34" charset="-120"/>
              </a:rPr>
              <a:t>1. Project Overview</a:t>
            </a:r>
            <a:endParaRPr lang="en-US" sz="2500" dirty="0"/>
          </a:p>
        </p:txBody>
      </p:sp>
      <p:sp>
        <p:nvSpPr>
          <p:cNvPr id="3" name="Text 1"/>
          <p:cNvSpPr/>
          <p:nvPr/>
        </p:nvSpPr>
        <p:spPr>
          <a:xfrm>
            <a:off x="429768" y="713232"/>
            <a:ext cx="11247120" cy="256032"/>
          </a:xfrm>
          <a:prstGeom prst="rect">
            <a:avLst/>
          </a:prstGeom>
          <a:noFill/>
          <a:ln/>
        </p:spPr>
        <p:txBody>
          <a:bodyPr wrap="square" lIns="0" tIns="0" rIns="0" bIns="0" rtlCol="0" anchor="ctr">
            <a:normAutofit/>
          </a:bodyPr>
          <a:lstStyle/>
          <a:p>
            <a:pPr marL="0" indent="0">
              <a:buNone/>
            </a:pPr>
            <a:r>
              <a:rPr lang="en-US" sz="1150" dirty="0">
                <a:solidFill>
                  <a:srgbClr val="56606B"/>
                </a:solidFill>
              </a:rPr>
              <a:t>Explain the project in one minute.</a:t>
            </a:r>
            <a:endParaRPr lang="en-US" sz="1150" dirty="0"/>
          </a:p>
        </p:txBody>
      </p:sp>
      <p:sp>
        <p:nvSpPr>
          <p:cNvPr id="4" name="Shape 2"/>
          <p:cNvSpPr/>
          <p:nvPr/>
        </p:nvSpPr>
        <p:spPr>
          <a:xfrm>
            <a:off x="411480" y="1024128"/>
            <a:ext cx="11338560" cy="0"/>
          </a:xfrm>
          <a:prstGeom prst="line">
            <a:avLst/>
          </a:prstGeom>
          <a:noFill/>
          <a:ln w="12700">
            <a:solidFill>
              <a:srgbClr val="C8D1DD"/>
            </a:solidFill>
            <a:prstDash val="solid"/>
          </a:ln>
        </p:spPr>
      </p:sp>
      <p:sp>
        <p:nvSpPr>
          <p:cNvPr id="5" name="Text 3"/>
          <p:cNvSpPr/>
          <p:nvPr/>
        </p:nvSpPr>
        <p:spPr>
          <a:xfrm>
            <a:off x="411480" y="6510528"/>
            <a:ext cx="6858000" cy="164592"/>
          </a:xfrm>
          <a:prstGeom prst="rect">
            <a:avLst/>
          </a:prstGeom>
          <a:noFill/>
          <a:ln/>
        </p:spPr>
        <p:txBody>
          <a:bodyPr wrap="square" lIns="0" tIns="0" rIns="0" bIns="0" rtlCol="0" anchor="ctr">
            <a:normAutofit/>
          </a:bodyPr>
          <a:lstStyle/>
          <a:p>
            <a:pPr marL="0" indent="0">
              <a:buNone/>
            </a:pPr>
            <a:r>
              <a:rPr lang="en-US" sz="780" dirty="0">
                <a:solidFill>
                  <a:srgbClr val="7A8796"/>
                </a:solidFill>
              </a:rPr>
              <a:t>Tools &amp; Techniques End-to-End Data Pipeline Capstone</a:t>
            </a:r>
            <a:endParaRPr lang="en-US" sz="780" dirty="0"/>
          </a:p>
        </p:txBody>
      </p:sp>
      <p:sp>
        <p:nvSpPr>
          <p:cNvPr id="6" name="Text 4"/>
          <p:cNvSpPr/>
          <p:nvPr/>
        </p:nvSpPr>
        <p:spPr>
          <a:xfrm>
            <a:off x="640079" y="1325879"/>
            <a:ext cx="5575993" cy="1371599"/>
          </a:xfrm>
          <a:prstGeom prst="rect">
            <a:avLst/>
          </a:prstGeom>
          <a:solidFill>
            <a:srgbClr val="EAF3FF"/>
          </a:solidFill>
          <a:ln w="10160">
            <a:solidFill>
              <a:srgbClr val="C8D1DD"/>
            </a:solidFill>
          </a:ln>
        </p:spPr>
        <p:txBody>
          <a:bodyPr wrap="square" lIns="1524" tIns="1524" rIns="1524" bIns="1524" rtlCol="0" anchor="t">
            <a:normAutofit/>
          </a:bodyPr>
          <a:lstStyle/>
          <a:p>
            <a:r>
              <a:rPr lang="en-US" sz="1450" b="1" dirty="0">
                <a:solidFill>
                  <a:srgbClr val="073B72"/>
                </a:solidFill>
              </a:rPr>
              <a:t>Project Summary
</a:t>
            </a:r>
            <a:r>
              <a:rPr lang="en-PK" sz="1450" dirty="0"/>
              <a:t>Pakistan Crime &amp; Safety Data Pipeline is an automated crime intelligence system that collects crime news from leading Pakistani news websites, extracts structured information using NLP, processes it through ETL workflows, generates automated alerts, and visualizes trends through an interactive dashboard.</a:t>
            </a:r>
          </a:p>
          <a:p>
            <a:pPr marL="0" indent="0">
              <a:buNone/>
            </a:pPr>
            <a:endParaRPr lang="en-US" sz="1450" dirty="0"/>
          </a:p>
        </p:txBody>
      </p:sp>
      <p:sp>
        <p:nvSpPr>
          <p:cNvPr id="7" name="Text 5"/>
          <p:cNvSpPr/>
          <p:nvPr/>
        </p:nvSpPr>
        <p:spPr>
          <a:xfrm>
            <a:off x="6355080" y="1161288"/>
            <a:ext cx="5074920" cy="1563623"/>
          </a:xfrm>
          <a:prstGeom prst="rect">
            <a:avLst/>
          </a:prstGeom>
          <a:solidFill>
            <a:srgbClr val="FFF7E6"/>
          </a:solidFill>
          <a:ln w="10160">
            <a:solidFill>
              <a:srgbClr val="C8D1DD"/>
            </a:solidFill>
          </a:ln>
        </p:spPr>
        <p:txBody>
          <a:bodyPr wrap="square" lIns="1524" tIns="1524" rIns="1524" bIns="1524" rtlCol="0" anchor="t">
            <a:normAutofit fontScale="85000" lnSpcReduction="20000"/>
          </a:bodyPr>
          <a:lstStyle/>
          <a:p>
            <a:r>
              <a:rPr lang="en-US" sz="1450" b="1" dirty="0">
                <a:solidFill>
                  <a:srgbClr val="073B72"/>
                </a:solidFill>
              </a:rPr>
              <a:t>Core Pipeline
</a:t>
            </a:r>
            <a:r>
              <a:rPr lang="en-PK" sz="1700" dirty="0"/>
              <a:t>Dawn / Geo / </a:t>
            </a:r>
            <a:r>
              <a:rPr lang="en-GB" sz="1700" dirty="0"/>
              <a:t>Express </a:t>
            </a:r>
            <a:r>
              <a:rPr lang="en-PK" sz="1700" dirty="0"/>
              <a:t>Tribune</a:t>
            </a:r>
            <a:br>
              <a:rPr lang="en-PK" sz="1700" dirty="0"/>
            </a:br>
            <a:r>
              <a:rPr lang="en-PK" sz="1700" dirty="0"/>
              <a:t>→ Scraping</a:t>
            </a:r>
            <a:br>
              <a:rPr lang="en-PK" sz="1700" dirty="0"/>
            </a:br>
            <a:r>
              <a:rPr lang="en-PK" sz="1700" dirty="0"/>
              <a:t>→ NLP Extraction</a:t>
            </a:r>
            <a:br>
              <a:rPr lang="en-PK" sz="1700" dirty="0"/>
            </a:br>
            <a:r>
              <a:rPr lang="en-PK" sz="1700" dirty="0"/>
              <a:t>→ KNIME ETL</a:t>
            </a:r>
            <a:br>
              <a:rPr lang="en-PK" sz="1700" dirty="0"/>
            </a:br>
            <a:r>
              <a:rPr lang="en-PK" sz="1700" dirty="0"/>
              <a:t>→ Airflow Automation</a:t>
            </a:r>
            <a:br>
              <a:rPr lang="en-PK" sz="1700" dirty="0"/>
            </a:br>
            <a:r>
              <a:rPr lang="en-PK" sz="1700" dirty="0"/>
              <a:t>→ n8n Alerts</a:t>
            </a:r>
            <a:br>
              <a:rPr lang="en-PK" sz="1700" dirty="0"/>
            </a:br>
            <a:r>
              <a:rPr lang="en-PK" sz="1700" dirty="0"/>
              <a:t>→ </a:t>
            </a:r>
            <a:r>
              <a:rPr lang="en-PK" sz="1700" dirty="0" err="1"/>
              <a:t>Streamlit</a:t>
            </a:r>
            <a:r>
              <a:rPr lang="en-PK" sz="1700" dirty="0"/>
              <a:t> Dashboard</a:t>
            </a:r>
            <a:br>
              <a:rPr lang="en-PK" sz="1700" dirty="0"/>
            </a:br>
            <a:r>
              <a:rPr lang="en-PK" sz="1700" dirty="0"/>
              <a:t>→ Docker Deployment</a:t>
            </a:r>
            <a:endParaRPr lang="en-US" sz="1700" dirty="0"/>
          </a:p>
        </p:txBody>
      </p:sp>
      <p:sp>
        <p:nvSpPr>
          <p:cNvPr id="8" name="Text 6"/>
          <p:cNvSpPr/>
          <p:nvPr/>
        </p:nvSpPr>
        <p:spPr>
          <a:xfrm>
            <a:off x="640080" y="2807208"/>
            <a:ext cx="3429000" cy="1133858"/>
          </a:xfrm>
          <a:prstGeom prst="rect">
            <a:avLst/>
          </a:prstGeom>
          <a:solidFill>
            <a:srgbClr val="F0F9FF"/>
          </a:solidFill>
          <a:ln w="10160">
            <a:solidFill>
              <a:srgbClr val="C8D1DD"/>
            </a:solidFill>
          </a:ln>
        </p:spPr>
        <p:txBody>
          <a:bodyPr wrap="square" lIns="1524" tIns="1524" rIns="1524" bIns="1524" rtlCol="0" anchor="t">
            <a:normAutofit/>
          </a:bodyPr>
          <a:lstStyle/>
          <a:p>
            <a:r>
              <a:rPr lang="en-US" sz="1450" b="1" dirty="0">
                <a:solidFill>
                  <a:srgbClr val="073B72"/>
                </a:solidFill>
              </a:rPr>
              <a:t>Expected Users</a:t>
            </a:r>
          </a:p>
          <a:p>
            <a:pPr marL="285750" indent="-285750">
              <a:buFont typeface="Arial" panose="020B0604020202020204" pitchFamily="34" charset="0"/>
              <a:buChar char="•"/>
            </a:pPr>
            <a:r>
              <a:rPr lang="en-PK" sz="1450" dirty="0"/>
              <a:t>Security Analysts</a:t>
            </a:r>
            <a:endParaRPr lang="en-GB" sz="1450" dirty="0"/>
          </a:p>
          <a:p>
            <a:pPr marL="285750" indent="-285750">
              <a:buFont typeface="Arial" panose="020B0604020202020204" pitchFamily="34" charset="0"/>
              <a:buChar char="•"/>
            </a:pPr>
            <a:r>
              <a:rPr lang="en-PK" sz="1450" dirty="0"/>
              <a:t> Journalists </a:t>
            </a:r>
            <a:endParaRPr lang="en-GB" sz="1450" dirty="0"/>
          </a:p>
          <a:p>
            <a:pPr marL="285750" indent="-285750">
              <a:buFont typeface="Arial" panose="020B0604020202020204" pitchFamily="34" charset="0"/>
              <a:buChar char="•"/>
            </a:pPr>
            <a:r>
              <a:rPr lang="en-PK" sz="1450" dirty="0"/>
              <a:t>NGOs</a:t>
            </a:r>
            <a:endParaRPr lang="en-GB" sz="1450" dirty="0"/>
          </a:p>
          <a:p>
            <a:pPr marL="285750" indent="-285750">
              <a:buFont typeface="Arial" panose="020B0604020202020204" pitchFamily="34" charset="0"/>
              <a:buChar char="•"/>
            </a:pPr>
            <a:r>
              <a:rPr lang="en-PK" sz="1450" dirty="0"/>
              <a:t>Government Agencies</a:t>
            </a:r>
            <a:endParaRPr lang="en-US" sz="1450" dirty="0"/>
          </a:p>
        </p:txBody>
      </p:sp>
      <p:sp>
        <p:nvSpPr>
          <p:cNvPr id="9" name="Text 7"/>
          <p:cNvSpPr/>
          <p:nvPr/>
        </p:nvSpPr>
        <p:spPr>
          <a:xfrm>
            <a:off x="4389120" y="2788920"/>
            <a:ext cx="3429000" cy="960120"/>
          </a:xfrm>
          <a:prstGeom prst="rect">
            <a:avLst/>
          </a:prstGeom>
          <a:solidFill>
            <a:srgbClr val="F0F9FF"/>
          </a:solidFill>
          <a:ln w="10160">
            <a:solidFill>
              <a:srgbClr val="C8D1DD"/>
            </a:solidFill>
          </a:ln>
        </p:spPr>
        <p:txBody>
          <a:bodyPr wrap="square" lIns="1524" tIns="1524" rIns="1524" bIns="1524" rtlCol="0" anchor="t">
            <a:normAutofit/>
          </a:bodyPr>
          <a:lstStyle/>
          <a:p>
            <a:r>
              <a:rPr lang="en-US" sz="1450" b="1" dirty="0">
                <a:solidFill>
                  <a:srgbClr val="073B72"/>
                </a:solidFill>
              </a:rPr>
              <a:t>Expected Buyer / Adopter</a:t>
            </a:r>
          </a:p>
          <a:p>
            <a:pPr marL="285750" indent="-285750">
              <a:buFont typeface="Arial" panose="020B0604020202020204" pitchFamily="34" charset="0"/>
              <a:buChar char="•"/>
            </a:pPr>
            <a:r>
              <a:rPr lang="en-PK" sz="1450" dirty="0"/>
              <a:t>Security Companies </a:t>
            </a:r>
            <a:endParaRPr lang="en-GB" sz="1450" dirty="0"/>
          </a:p>
          <a:p>
            <a:pPr marL="285750" indent="-285750">
              <a:buFont typeface="Arial" panose="020B0604020202020204" pitchFamily="34" charset="0"/>
              <a:buChar char="•"/>
            </a:pPr>
            <a:r>
              <a:rPr lang="en-PK" sz="1450" dirty="0"/>
              <a:t>Insurance Firms</a:t>
            </a:r>
            <a:endParaRPr lang="en-GB" sz="1450" dirty="0"/>
          </a:p>
          <a:p>
            <a:pPr marL="285750" indent="-285750">
              <a:buFont typeface="Arial" panose="020B0604020202020204" pitchFamily="34" charset="0"/>
              <a:buChar char="•"/>
            </a:pPr>
            <a:r>
              <a:rPr lang="en-PK" sz="1450" dirty="0"/>
              <a:t> Real Estate Developers</a:t>
            </a:r>
            <a:endParaRPr lang="en-US" sz="1450" dirty="0"/>
          </a:p>
        </p:txBody>
      </p:sp>
      <p:sp>
        <p:nvSpPr>
          <p:cNvPr id="10" name="Text 8"/>
          <p:cNvSpPr/>
          <p:nvPr/>
        </p:nvSpPr>
        <p:spPr>
          <a:xfrm>
            <a:off x="8138160" y="2788919"/>
            <a:ext cx="3291840" cy="1044171"/>
          </a:xfrm>
          <a:prstGeom prst="rect">
            <a:avLst/>
          </a:prstGeom>
          <a:solidFill>
            <a:srgbClr val="F0F9FF"/>
          </a:solidFill>
          <a:ln w="10160">
            <a:solidFill>
              <a:srgbClr val="C8D1DD"/>
            </a:solidFill>
          </a:ln>
        </p:spPr>
        <p:txBody>
          <a:bodyPr wrap="square" lIns="1524" tIns="1524" rIns="1524" bIns="1524" rtlCol="0" anchor="t">
            <a:normAutofit/>
          </a:bodyPr>
          <a:lstStyle/>
          <a:p>
            <a:r>
              <a:rPr lang="en-US" sz="1450" b="1" dirty="0">
                <a:solidFill>
                  <a:srgbClr val="073B72"/>
                </a:solidFill>
              </a:rPr>
              <a:t>Main Output
</a:t>
            </a:r>
            <a:r>
              <a:rPr lang="en-PK" sz="1450" dirty="0"/>
              <a:t>Crime Dashboard + Automated Email Alerts</a:t>
            </a:r>
            <a:endParaRPr lang="en-US" sz="1450" dirty="0"/>
          </a:p>
        </p:txBody>
      </p:sp>
      <p:sp>
        <p:nvSpPr>
          <p:cNvPr id="11" name="Text 9"/>
          <p:cNvSpPr/>
          <p:nvPr/>
        </p:nvSpPr>
        <p:spPr>
          <a:xfrm>
            <a:off x="777240" y="4160520"/>
            <a:ext cx="10424160" cy="960120"/>
          </a:xfrm>
          <a:prstGeom prst="rect">
            <a:avLst/>
          </a:prstGeom>
          <a:noFill/>
          <a:ln/>
        </p:spPr>
        <p:txBody>
          <a:bodyPr wrap="square" lIns="1016" tIns="1016" rIns="1016" bIns="1016" rtlCol="0" anchor="t">
            <a:normAutofit/>
          </a:bodyPr>
          <a:lstStyle/>
          <a:p>
            <a:pPr marL="152400" indent="-152400">
              <a:buSzPct val="100000"/>
              <a:buChar char="•"/>
            </a:pPr>
            <a:r>
              <a:rPr lang="en-US" sz="1500" dirty="0">
                <a:solidFill>
                  <a:srgbClr val="1F2937"/>
                </a:solidFill>
              </a:rPr>
              <a:t>Why this project is necessary: </a:t>
            </a:r>
            <a:r>
              <a:rPr lang="en-PK" sz="1600" dirty="0"/>
              <a:t>Crime data is scattered across multiple news sources.</a:t>
            </a:r>
            <a:endParaRPr lang="en-US" sz="1500" dirty="0"/>
          </a:p>
          <a:p>
            <a:pPr marL="152400" indent="-152400">
              <a:buSzPct val="100000"/>
              <a:buFontTx/>
              <a:buChar char="•"/>
            </a:pPr>
            <a:r>
              <a:rPr lang="en-US" sz="1500" dirty="0">
                <a:solidFill>
                  <a:srgbClr val="1F2937"/>
                </a:solidFill>
              </a:rPr>
              <a:t>What decision it supports: </a:t>
            </a:r>
            <a:r>
              <a:rPr lang="en-PK" sz="1600" dirty="0"/>
              <a:t>Identifying high-risk cities and crime trends.</a:t>
            </a:r>
            <a:endParaRPr lang="en-US" sz="1500" dirty="0"/>
          </a:p>
          <a:p>
            <a:pPr marL="152400" indent="-152400">
              <a:buSzPct val="100000"/>
              <a:buFontTx/>
              <a:buChar char="•"/>
            </a:pPr>
            <a:r>
              <a:rPr lang="en-US" sz="1500" dirty="0">
                <a:solidFill>
                  <a:srgbClr val="1F2937"/>
                </a:solidFill>
              </a:rPr>
              <a:t>What makes it useful: </a:t>
            </a:r>
            <a:r>
              <a:rPr lang="en-PK" sz="1600" dirty="0"/>
              <a:t>Provides centralized, automated crime intelligence.</a:t>
            </a:r>
          </a:p>
        </p:txBody>
      </p:sp>
      <p:sp>
        <p:nvSpPr>
          <p:cNvPr id="12" name="Text 10"/>
          <p:cNvSpPr/>
          <p:nvPr/>
        </p:nvSpPr>
        <p:spPr>
          <a:xfrm>
            <a:off x="685800" y="5696712"/>
            <a:ext cx="10789920" cy="274320"/>
          </a:xfrm>
          <a:prstGeom prst="rect">
            <a:avLst/>
          </a:prstGeom>
          <a:solidFill>
            <a:srgbClr val="E8F4EA"/>
          </a:solidFill>
          <a:ln w="7620">
            <a:solidFill>
              <a:srgbClr val="B7D7BF"/>
            </a:solidFill>
          </a:ln>
        </p:spPr>
        <p:txBody>
          <a:bodyPr wrap="square" lIns="1016" tIns="1016" rIns="1016" bIns="1016" rtlCol="0" anchor="ctr">
            <a:normAutofit/>
          </a:bodyPr>
          <a:lstStyle/>
          <a:p>
            <a:pPr marL="0" indent="0">
              <a:buNone/>
            </a:pPr>
            <a:r>
              <a:rPr lang="en-US" sz="1120" b="1" dirty="0">
                <a:solidFill>
                  <a:srgbClr val="073B72"/>
                </a:solidFill>
              </a:rPr>
              <a:t>Evidence required: final system screenshot or one clear pipeline screenshot.</a:t>
            </a:r>
            <a:endParaRPr lang="en-US" sz="1120" dirty="0"/>
          </a:p>
        </p:txBody>
      </p:sp>
      <p:sp>
        <p:nvSpPr>
          <p:cNvPr id="25" name="Slide Number Placeholder 0"/>
          <p:cNvSpPr>
            <a:spLocks noGrp="1"/>
          </p:cNvSpPr>
          <p:nvPr>
            <p:ph type="sldNum" sz="quarter" idx="4294967295"/>
          </p:nvPr>
        </p:nvSpPr>
        <p:spPr>
          <a:xfrm>
            <a:off x="1120140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7A8796"/>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11480" y="256032"/>
            <a:ext cx="11338560" cy="411480"/>
          </a:xfrm>
          <a:prstGeom prst="rect">
            <a:avLst/>
          </a:prstGeom>
          <a:noFill/>
          <a:ln/>
        </p:spPr>
        <p:txBody>
          <a:bodyPr wrap="square" lIns="0" tIns="0" rIns="0" bIns="0" rtlCol="0" anchor="ctr">
            <a:normAutofit/>
          </a:bodyPr>
          <a:lstStyle/>
          <a:p>
            <a:pPr marL="0" indent="0">
              <a:buNone/>
            </a:pPr>
            <a:r>
              <a:rPr lang="en-US" sz="2500" b="1" dirty="0">
                <a:solidFill>
                  <a:srgbClr val="073B72"/>
                </a:solidFill>
                <a:latin typeface="Aptos Display" pitchFamily="34" charset="0"/>
                <a:ea typeface="Aptos Display" pitchFamily="34" charset="-122"/>
                <a:cs typeface="Aptos Display" pitchFamily="34" charset="-120"/>
              </a:rPr>
              <a:t>2. Problem Statement</a:t>
            </a:r>
            <a:endParaRPr lang="en-US" sz="2500" dirty="0"/>
          </a:p>
        </p:txBody>
      </p:sp>
      <p:sp>
        <p:nvSpPr>
          <p:cNvPr id="3" name="Text 1"/>
          <p:cNvSpPr/>
          <p:nvPr/>
        </p:nvSpPr>
        <p:spPr>
          <a:xfrm>
            <a:off x="429768" y="713232"/>
            <a:ext cx="11247120" cy="256032"/>
          </a:xfrm>
          <a:prstGeom prst="rect">
            <a:avLst/>
          </a:prstGeom>
          <a:noFill/>
          <a:ln/>
        </p:spPr>
        <p:txBody>
          <a:bodyPr wrap="square" lIns="0" tIns="0" rIns="0" bIns="0" rtlCol="0" anchor="ctr">
            <a:normAutofit/>
          </a:bodyPr>
          <a:lstStyle/>
          <a:p>
            <a:pPr marL="0" indent="0">
              <a:buNone/>
            </a:pPr>
            <a:r>
              <a:rPr lang="en-US" sz="1150" dirty="0">
                <a:solidFill>
                  <a:srgbClr val="56606B"/>
                </a:solidFill>
              </a:rPr>
              <a:t>Make the problem specific, measurable, and realistic.</a:t>
            </a:r>
            <a:endParaRPr lang="en-US" sz="1150" dirty="0"/>
          </a:p>
        </p:txBody>
      </p:sp>
      <p:sp>
        <p:nvSpPr>
          <p:cNvPr id="4" name="Shape 2"/>
          <p:cNvSpPr/>
          <p:nvPr/>
        </p:nvSpPr>
        <p:spPr>
          <a:xfrm>
            <a:off x="411480" y="1024128"/>
            <a:ext cx="11338560" cy="0"/>
          </a:xfrm>
          <a:prstGeom prst="line">
            <a:avLst/>
          </a:prstGeom>
          <a:noFill/>
          <a:ln w="12700">
            <a:solidFill>
              <a:srgbClr val="C8D1DD"/>
            </a:solidFill>
            <a:prstDash val="solid"/>
          </a:ln>
        </p:spPr>
      </p:sp>
      <p:sp>
        <p:nvSpPr>
          <p:cNvPr id="5" name="Text 3"/>
          <p:cNvSpPr/>
          <p:nvPr/>
        </p:nvSpPr>
        <p:spPr>
          <a:xfrm>
            <a:off x="411480" y="6510528"/>
            <a:ext cx="6858000" cy="164592"/>
          </a:xfrm>
          <a:prstGeom prst="rect">
            <a:avLst/>
          </a:prstGeom>
          <a:noFill/>
          <a:ln/>
        </p:spPr>
        <p:txBody>
          <a:bodyPr wrap="square" lIns="0" tIns="0" rIns="0" bIns="0" rtlCol="0" anchor="ctr">
            <a:normAutofit/>
          </a:bodyPr>
          <a:lstStyle/>
          <a:p>
            <a:pPr marL="0" indent="0">
              <a:buNone/>
            </a:pPr>
            <a:r>
              <a:rPr lang="en-US" sz="780" dirty="0">
                <a:solidFill>
                  <a:srgbClr val="7A8796"/>
                </a:solidFill>
              </a:rPr>
              <a:t>Tools &amp; Techniques End-to-End Data Pipeline Capstone</a:t>
            </a:r>
            <a:endParaRPr lang="en-US" sz="780" dirty="0"/>
          </a:p>
        </p:txBody>
      </p:sp>
      <p:sp>
        <p:nvSpPr>
          <p:cNvPr id="6" name="Text 4"/>
          <p:cNvSpPr/>
          <p:nvPr/>
        </p:nvSpPr>
        <p:spPr>
          <a:xfrm>
            <a:off x="640080" y="1316736"/>
            <a:ext cx="5303520" cy="1143000"/>
          </a:xfrm>
          <a:prstGeom prst="rect">
            <a:avLst/>
          </a:prstGeom>
          <a:solidFill>
            <a:srgbClr val="EAF3FF"/>
          </a:solidFill>
          <a:ln w="10160">
            <a:solidFill>
              <a:srgbClr val="C8D1DD"/>
            </a:solidFill>
          </a:ln>
        </p:spPr>
        <p:txBody>
          <a:bodyPr wrap="square" lIns="1524" tIns="1524" rIns="1524" bIns="1524" rtlCol="0" anchor="t">
            <a:normAutofit/>
          </a:bodyPr>
          <a:lstStyle/>
          <a:p>
            <a:r>
              <a:rPr lang="en-US" sz="1450" b="1" dirty="0">
                <a:solidFill>
                  <a:srgbClr val="073B72"/>
                </a:solidFill>
              </a:rPr>
              <a:t>Current Problem
</a:t>
            </a:r>
            <a:r>
              <a:rPr lang="en-PK" sz="1600" dirty="0"/>
              <a:t>Crime information is spread across multiple websites with no centralized system for monitoring incidents.</a:t>
            </a:r>
            <a:endParaRPr lang="en-US" sz="1450" dirty="0"/>
          </a:p>
        </p:txBody>
      </p:sp>
      <p:sp>
        <p:nvSpPr>
          <p:cNvPr id="7" name="Text 5"/>
          <p:cNvSpPr/>
          <p:nvPr/>
        </p:nvSpPr>
        <p:spPr>
          <a:xfrm>
            <a:off x="6172200" y="1325880"/>
            <a:ext cx="5303520" cy="1143000"/>
          </a:xfrm>
          <a:prstGeom prst="rect">
            <a:avLst/>
          </a:prstGeom>
          <a:solidFill>
            <a:srgbClr val="FFF7E6"/>
          </a:solidFill>
          <a:ln w="10160">
            <a:solidFill>
              <a:srgbClr val="C8D1DD"/>
            </a:solidFill>
          </a:ln>
        </p:spPr>
        <p:txBody>
          <a:bodyPr wrap="square" lIns="1524" tIns="1524" rIns="1524" bIns="1524" rtlCol="0" anchor="t">
            <a:normAutofit/>
          </a:bodyPr>
          <a:lstStyle/>
          <a:p>
            <a:r>
              <a:rPr lang="en-US" sz="1450" b="1" dirty="0">
                <a:solidFill>
                  <a:srgbClr val="073B72"/>
                </a:solidFill>
              </a:rPr>
              <a:t>Current / Manual Method
</a:t>
            </a:r>
            <a:r>
              <a:rPr lang="en-PK" sz="1600" dirty="0"/>
              <a:t>Manual reading of news websites and TV channels.</a:t>
            </a:r>
            <a:endParaRPr lang="en-US" sz="1450" dirty="0"/>
          </a:p>
        </p:txBody>
      </p:sp>
      <p:sp>
        <p:nvSpPr>
          <p:cNvPr id="8" name="Text 6"/>
          <p:cNvSpPr/>
          <p:nvPr/>
        </p:nvSpPr>
        <p:spPr>
          <a:xfrm>
            <a:off x="685800" y="2761488"/>
            <a:ext cx="5303520" cy="1143000"/>
          </a:xfrm>
          <a:prstGeom prst="rect">
            <a:avLst/>
          </a:prstGeom>
          <a:solidFill>
            <a:srgbClr val="F9F0FF"/>
          </a:solidFill>
          <a:ln w="10160">
            <a:solidFill>
              <a:srgbClr val="C8D1DD"/>
            </a:solidFill>
          </a:ln>
        </p:spPr>
        <p:txBody>
          <a:bodyPr wrap="square" lIns="1524" tIns="1524" rIns="1524" bIns="1524" rtlCol="0" anchor="t">
            <a:normAutofit fontScale="92500" lnSpcReduction="20000"/>
          </a:bodyPr>
          <a:lstStyle/>
          <a:p>
            <a:r>
              <a:rPr lang="en-US" sz="1450" b="1" dirty="0">
                <a:solidFill>
                  <a:srgbClr val="073B72"/>
                </a:solidFill>
              </a:rPr>
              <a:t>Limitations</a:t>
            </a:r>
          </a:p>
          <a:p>
            <a:r>
              <a:rPr lang="en-US" sz="1450" b="1" dirty="0">
                <a:solidFill>
                  <a:srgbClr val="073B72"/>
                </a:solidFill>
              </a:rPr>
              <a:t>
</a:t>
            </a:r>
            <a:r>
              <a:rPr lang="en-PK" sz="1600" dirty="0"/>
              <a:t>Time consuming </a:t>
            </a:r>
            <a:endParaRPr lang="en-GB" sz="1600" dirty="0"/>
          </a:p>
          <a:p>
            <a:r>
              <a:rPr lang="en-PK" sz="1600" dirty="0"/>
              <a:t>No trend analysis </a:t>
            </a:r>
            <a:endParaRPr lang="en-GB" sz="1600" dirty="0"/>
          </a:p>
          <a:p>
            <a:r>
              <a:rPr lang="en-PK" sz="1600" dirty="0"/>
              <a:t>No alerts </a:t>
            </a:r>
            <a:endParaRPr lang="en-GB" sz="1600" dirty="0"/>
          </a:p>
          <a:p>
            <a:r>
              <a:rPr lang="en-PK" sz="1600" dirty="0"/>
              <a:t>No structured database</a:t>
            </a:r>
            <a:endParaRPr lang="en-US" sz="1450" dirty="0"/>
          </a:p>
        </p:txBody>
      </p:sp>
      <p:sp>
        <p:nvSpPr>
          <p:cNvPr id="9" name="Text 7"/>
          <p:cNvSpPr/>
          <p:nvPr/>
        </p:nvSpPr>
        <p:spPr>
          <a:xfrm>
            <a:off x="6172200" y="2743200"/>
            <a:ext cx="5303520" cy="1143000"/>
          </a:xfrm>
          <a:prstGeom prst="rect">
            <a:avLst/>
          </a:prstGeom>
          <a:solidFill>
            <a:srgbClr val="F9F0FF"/>
          </a:solidFill>
          <a:ln w="10160">
            <a:solidFill>
              <a:srgbClr val="C8D1DD"/>
            </a:solidFill>
          </a:ln>
        </p:spPr>
        <p:txBody>
          <a:bodyPr wrap="square" lIns="1524" tIns="1524" rIns="1524" bIns="1524" rtlCol="0" anchor="t">
            <a:normAutofit/>
          </a:bodyPr>
          <a:lstStyle/>
          <a:p>
            <a:r>
              <a:rPr lang="en-US" sz="1450" b="1" dirty="0">
                <a:solidFill>
                  <a:srgbClr val="073B72"/>
                </a:solidFill>
              </a:rPr>
              <a:t>Impact
</a:t>
            </a:r>
            <a:r>
              <a:rPr lang="en-PK" sz="1600" dirty="0"/>
              <a:t>Delayed decision making </a:t>
            </a:r>
            <a:endParaRPr lang="en-GB" sz="1600" dirty="0"/>
          </a:p>
          <a:p>
            <a:r>
              <a:rPr lang="en-PK" sz="1600" dirty="0"/>
              <a:t>Missed crime trends </a:t>
            </a:r>
            <a:endParaRPr lang="en-GB" sz="1600" dirty="0"/>
          </a:p>
          <a:p>
            <a:r>
              <a:rPr lang="en-PK" sz="1600" dirty="0"/>
              <a:t>Lack of public safety awareness</a:t>
            </a:r>
            <a:endParaRPr lang="en-US" sz="1450" dirty="0"/>
          </a:p>
        </p:txBody>
      </p:sp>
      <p:sp>
        <p:nvSpPr>
          <p:cNvPr id="10" name="Text 8"/>
          <p:cNvSpPr/>
          <p:nvPr/>
        </p:nvSpPr>
        <p:spPr>
          <a:xfrm>
            <a:off x="777240" y="4343400"/>
            <a:ext cx="10515600" cy="731520"/>
          </a:xfrm>
          <a:prstGeom prst="rect">
            <a:avLst/>
          </a:prstGeom>
          <a:noFill/>
          <a:ln/>
        </p:spPr>
        <p:txBody>
          <a:bodyPr wrap="square" lIns="1016" tIns="1016" rIns="1016" bIns="1016" rtlCol="0" anchor="t">
            <a:normAutofit fontScale="85000" lnSpcReduction="20000"/>
          </a:bodyPr>
          <a:lstStyle/>
          <a:p>
            <a:pPr marL="152400" indent="-152400">
              <a:buSzPct val="100000"/>
              <a:buChar char="•"/>
            </a:pPr>
            <a:r>
              <a:rPr lang="en-PK" sz="1600" b="1" dirty="0"/>
              <a:t>Pakistan lacks a centralized automated system for collecting, </a:t>
            </a:r>
            <a:r>
              <a:rPr lang="en-PK" sz="1600" b="1" dirty="0" err="1"/>
              <a:t>analyzing</a:t>
            </a:r>
            <a:r>
              <a:rPr lang="en-PK" sz="1600" b="1" dirty="0"/>
              <a:t>, and visualizing crime incidents reported across major news sources</a:t>
            </a:r>
            <a:r>
              <a:rPr lang="en-US" sz="1450" b="1" dirty="0">
                <a:solidFill>
                  <a:srgbClr val="1F2937"/>
                </a:solidFill>
              </a:rPr>
              <a:t>.</a:t>
            </a:r>
            <a:endParaRPr lang="en-US" sz="1450" b="1" dirty="0"/>
          </a:p>
          <a:p>
            <a:pPr marL="152400" indent="-152400">
              <a:buSzPct val="100000"/>
              <a:buChar char="•"/>
            </a:pPr>
            <a:r>
              <a:rPr lang="en-GB" sz="1600" dirty="0"/>
              <a:t>7</a:t>
            </a:r>
            <a:r>
              <a:rPr lang="en-PK" sz="1600" dirty="0"/>
              <a:t>/</a:t>
            </a:r>
            <a:r>
              <a:rPr lang="en-GB" sz="1600" dirty="0"/>
              <a:t>14</a:t>
            </a:r>
            <a:r>
              <a:rPr lang="en-PK" sz="1600" dirty="0"/>
              <a:t> respondents wanted a crime trend dashboard. </a:t>
            </a:r>
            <a:endParaRPr lang="en-GB" sz="1600" dirty="0"/>
          </a:p>
          <a:p>
            <a:pPr marL="152400" indent="-152400">
              <a:buSzPct val="100000"/>
              <a:buChar char="•"/>
            </a:pPr>
            <a:r>
              <a:rPr lang="en-GB" sz="1600" dirty="0"/>
              <a:t>7</a:t>
            </a:r>
            <a:r>
              <a:rPr lang="en-PK" sz="1600" dirty="0"/>
              <a:t>/</a:t>
            </a:r>
            <a:r>
              <a:rPr lang="en-GB" sz="1600" dirty="0"/>
              <a:t>14</a:t>
            </a:r>
            <a:r>
              <a:rPr lang="en-PK" sz="1600" dirty="0"/>
              <a:t> actively follow crime news.</a:t>
            </a:r>
            <a:r>
              <a:rPr lang="en-US" sz="1450" dirty="0">
                <a:solidFill>
                  <a:srgbClr val="1F2937"/>
                </a:solidFill>
              </a:rPr>
              <a:t>Do not present a solution before the problem is clear.</a:t>
            </a:r>
            <a:endParaRPr lang="en-US" sz="1450" dirty="0"/>
          </a:p>
        </p:txBody>
      </p:sp>
      <p:sp>
        <p:nvSpPr>
          <p:cNvPr id="11" name="Text 9"/>
          <p:cNvSpPr/>
          <p:nvPr/>
        </p:nvSpPr>
        <p:spPr>
          <a:xfrm>
            <a:off x="685800" y="5696712"/>
            <a:ext cx="10789920" cy="274320"/>
          </a:xfrm>
          <a:prstGeom prst="rect">
            <a:avLst/>
          </a:prstGeom>
          <a:solidFill>
            <a:srgbClr val="E8F4EA"/>
          </a:solidFill>
          <a:ln w="7620">
            <a:solidFill>
              <a:srgbClr val="B7D7BF"/>
            </a:solidFill>
          </a:ln>
        </p:spPr>
        <p:txBody>
          <a:bodyPr wrap="square" lIns="1016" tIns="1016" rIns="1016" bIns="1016" rtlCol="0" anchor="ctr">
            <a:normAutofit/>
          </a:bodyPr>
          <a:lstStyle/>
          <a:p>
            <a:pPr marL="0" indent="0">
              <a:buNone/>
            </a:pPr>
            <a:r>
              <a:rPr lang="en-US" sz="1120" b="1" dirty="0">
                <a:solidFill>
                  <a:srgbClr val="073B72"/>
                </a:solidFill>
              </a:rPr>
              <a:t>Evidence required: survey finding, screenshot, interview quote summary, or data sample that proves the problem exists.</a:t>
            </a:r>
            <a:endParaRPr lang="en-US" sz="1120" dirty="0"/>
          </a:p>
        </p:txBody>
      </p:sp>
      <p:sp>
        <p:nvSpPr>
          <p:cNvPr id="25" name="Slide Number Placeholder 0"/>
          <p:cNvSpPr>
            <a:spLocks noGrp="1"/>
          </p:cNvSpPr>
          <p:nvPr>
            <p:ph type="sldNum" sz="quarter" idx="4294967295"/>
          </p:nvPr>
        </p:nvSpPr>
        <p:spPr>
          <a:xfrm>
            <a:off x="1120140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7A8796"/>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11480" y="256032"/>
            <a:ext cx="11338560" cy="411480"/>
          </a:xfrm>
          <a:prstGeom prst="rect">
            <a:avLst/>
          </a:prstGeom>
          <a:noFill/>
          <a:ln/>
        </p:spPr>
        <p:txBody>
          <a:bodyPr wrap="square" lIns="0" tIns="0" rIns="0" bIns="0" rtlCol="0" anchor="ctr">
            <a:normAutofit/>
          </a:bodyPr>
          <a:lstStyle/>
          <a:p>
            <a:pPr marL="0" indent="0">
              <a:buNone/>
            </a:pPr>
            <a:r>
              <a:rPr lang="en-US" sz="2500" b="1" dirty="0">
                <a:solidFill>
                  <a:srgbClr val="073B72"/>
                </a:solidFill>
                <a:latin typeface="Aptos Display" pitchFamily="34" charset="0"/>
                <a:ea typeface="Aptos Display" pitchFamily="34" charset="-122"/>
                <a:cs typeface="Aptos Display" pitchFamily="34" charset="-120"/>
              </a:rPr>
              <a:t>3. Why This Project Is Necessary</a:t>
            </a:r>
            <a:endParaRPr lang="en-US" sz="2500" dirty="0"/>
          </a:p>
        </p:txBody>
      </p:sp>
      <p:sp>
        <p:nvSpPr>
          <p:cNvPr id="4" name="Shape 2"/>
          <p:cNvSpPr/>
          <p:nvPr/>
        </p:nvSpPr>
        <p:spPr>
          <a:xfrm>
            <a:off x="411480" y="1024128"/>
            <a:ext cx="11338560" cy="0"/>
          </a:xfrm>
          <a:prstGeom prst="line">
            <a:avLst/>
          </a:prstGeom>
          <a:noFill/>
          <a:ln w="12700">
            <a:solidFill>
              <a:srgbClr val="C8D1DD"/>
            </a:solidFill>
            <a:prstDash val="solid"/>
          </a:ln>
        </p:spPr>
      </p:sp>
      <p:sp>
        <p:nvSpPr>
          <p:cNvPr id="5" name="Text 3"/>
          <p:cNvSpPr/>
          <p:nvPr/>
        </p:nvSpPr>
        <p:spPr>
          <a:xfrm>
            <a:off x="411480" y="6510528"/>
            <a:ext cx="6858000" cy="164592"/>
          </a:xfrm>
          <a:prstGeom prst="rect">
            <a:avLst/>
          </a:prstGeom>
          <a:noFill/>
          <a:ln/>
        </p:spPr>
        <p:txBody>
          <a:bodyPr wrap="square" lIns="0" tIns="0" rIns="0" bIns="0" rtlCol="0" anchor="ctr">
            <a:normAutofit/>
          </a:bodyPr>
          <a:lstStyle/>
          <a:p>
            <a:pPr marL="0" indent="0">
              <a:buNone/>
            </a:pPr>
            <a:r>
              <a:rPr lang="en-US" sz="780" dirty="0">
                <a:solidFill>
                  <a:srgbClr val="7A8796"/>
                </a:solidFill>
              </a:rPr>
              <a:t>Tools &amp; Techniques End-to-End Data Pipeline Capstone</a:t>
            </a:r>
            <a:endParaRPr lang="en-US" sz="780" dirty="0"/>
          </a:p>
        </p:txBody>
      </p:sp>
      <p:sp>
        <p:nvSpPr>
          <p:cNvPr id="6" name="Text 4"/>
          <p:cNvSpPr/>
          <p:nvPr/>
        </p:nvSpPr>
        <p:spPr>
          <a:xfrm>
            <a:off x="685800" y="1417320"/>
            <a:ext cx="10835640" cy="2926080"/>
          </a:xfrm>
          <a:prstGeom prst="rect">
            <a:avLst/>
          </a:prstGeom>
          <a:solidFill>
            <a:srgbClr val="F8FAFC"/>
          </a:solidFill>
          <a:ln w="10160">
            <a:solidFill>
              <a:srgbClr val="C8D1DD"/>
            </a:solidFill>
          </a:ln>
        </p:spPr>
        <p:txBody>
          <a:bodyPr wrap="square" lIns="1143" tIns="1143" rIns="1143" bIns="1143" rtlCol="0" anchor="t">
            <a:normAutofit/>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Question                   | Your Answer                                                              </a:t>
            </a:r>
            <a:endParaRPr lang="en-US" sz="1200" dirty="0"/>
          </a:p>
          <a:p>
            <a:pPr marL="0" indent="0">
              <a:buNone/>
            </a:pPr>
            <a:r>
              <a:rPr lang="en-US" sz="1200" dirty="0">
                <a:solidFill>
                  <a:srgbClr val="1F2937"/>
                </a:solidFill>
                <a:latin typeface="Courier New" pitchFamily="34" charset="0"/>
                <a:ea typeface="Courier New" pitchFamily="34" charset="-122"/>
                <a:cs typeface="Courier New" pitchFamily="34" charset="-120"/>
              </a:rPr>
              <a:t>---------------------------+--------------------------------------------------------------------------</a:t>
            </a:r>
            <a:endParaRPr lang="en-US" sz="1200" dirty="0"/>
          </a:p>
          <a:p>
            <a:r>
              <a:rPr lang="en-US" sz="1200" dirty="0">
                <a:solidFill>
                  <a:srgbClr val="1F2937"/>
                </a:solidFill>
                <a:latin typeface="Courier New" pitchFamily="34" charset="0"/>
                <a:ea typeface="Courier New" pitchFamily="34" charset="-122"/>
                <a:cs typeface="Courier New" pitchFamily="34" charset="-120"/>
              </a:rPr>
              <a:t>Why is it necessary?       | </a:t>
            </a:r>
            <a:r>
              <a:rPr lang="en-PK" sz="1200" dirty="0"/>
              <a:t>Crime data is fragmented and difficult to </a:t>
            </a:r>
            <a:r>
              <a:rPr lang="en-PK" sz="1200" dirty="0" err="1"/>
              <a:t>analyze</a:t>
            </a:r>
            <a:r>
              <a:rPr lang="en-PK" sz="1200" dirty="0"/>
              <a:t> manually.</a:t>
            </a:r>
            <a:endParaRPr lang="en-US" sz="1200" dirty="0"/>
          </a:p>
          <a:p>
            <a:r>
              <a:rPr lang="en-US" sz="1200" dirty="0">
                <a:solidFill>
                  <a:srgbClr val="1F2937"/>
                </a:solidFill>
                <a:latin typeface="Courier New" pitchFamily="34" charset="0"/>
                <a:ea typeface="Courier New" pitchFamily="34" charset="-122"/>
                <a:cs typeface="Courier New" pitchFamily="34" charset="-120"/>
              </a:rPr>
              <a:t>Why will someone use it?   | </a:t>
            </a:r>
            <a:r>
              <a:rPr lang="en-PK" sz="1200" dirty="0"/>
              <a:t>Users receive instant crime insights and alerts.</a:t>
            </a:r>
            <a:endParaRPr lang="en-US" sz="1200" dirty="0"/>
          </a:p>
          <a:p>
            <a:r>
              <a:rPr lang="en-US" sz="1200" dirty="0">
                <a:solidFill>
                  <a:srgbClr val="1F2937"/>
                </a:solidFill>
                <a:latin typeface="Courier New" pitchFamily="34" charset="0"/>
                <a:ea typeface="Courier New" pitchFamily="34" charset="-122"/>
                <a:cs typeface="Courier New" pitchFamily="34" charset="-120"/>
              </a:rPr>
              <a:t>Why will someone adopt/p…  | </a:t>
            </a:r>
            <a:r>
              <a:rPr lang="en-PK" sz="1200" dirty="0"/>
              <a:t>Reduces monitoring effort and improves situational awareness.</a:t>
            </a:r>
            <a:endParaRPr lang="en-US" sz="1200" dirty="0"/>
          </a:p>
          <a:p>
            <a:r>
              <a:rPr lang="en-US" sz="1200" dirty="0">
                <a:solidFill>
                  <a:srgbClr val="1F2937"/>
                </a:solidFill>
                <a:latin typeface="Courier New" pitchFamily="34" charset="0"/>
                <a:ea typeface="Courier New" pitchFamily="34" charset="-122"/>
                <a:cs typeface="Courier New" pitchFamily="34" charset="-120"/>
              </a:rPr>
              <a:t>What decision improves?    | </a:t>
            </a:r>
            <a:r>
              <a:rPr lang="en-PK" sz="1200" dirty="0"/>
              <a:t>Resource allocation and risk assessment.</a:t>
            </a:r>
            <a:endParaRPr lang="en-US" sz="1200" dirty="0"/>
          </a:p>
        </p:txBody>
      </p:sp>
      <p:sp>
        <p:nvSpPr>
          <p:cNvPr id="7" name="Text 5"/>
          <p:cNvSpPr/>
          <p:nvPr/>
        </p:nvSpPr>
        <p:spPr>
          <a:xfrm>
            <a:off x="685800" y="4617720"/>
            <a:ext cx="10835640" cy="685800"/>
          </a:xfrm>
          <a:prstGeom prst="rect">
            <a:avLst/>
          </a:prstGeom>
          <a:solidFill>
            <a:srgbClr val="E8F4EA"/>
          </a:solidFill>
          <a:ln w="10160">
            <a:solidFill>
              <a:srgbClr val="C8D1DD"/>
            </a:solidFill>
          </a:ln>
        </p:spPr>
        <p:txBody>
          <a:bodyPr wrap="square" lIns="1524" tIns="1524" rIns="1524" bIns="1524" rtlCol="0" anchor="t">
            <a:normAutofit/>
          </a:bodyPr>
          <a:lstStyle/>
          <a:p>
            <a:r>
              <a:rPr lang="en-US" sz="1450" b="1" dirty="0">
                <a:solidFill>
                  <a:srgbClr val="073B72"/>
                </a:solidFill>
              </a:rPr>
              <a:t>Value Proposition
</a:t>
            </a:r>
            <a:r>
              <a:rPr lang="en-PK" sz="1600" dirty="0"/>
              <a:t>"Our system helps organizations monitor crime trends and receive early warnings through automated data intelligence."</a:t>
            </a:r>
            <a:endParaRPr lang="en-US" sz="1450" dirty="0"/>
          </a:p>
        </p:txBody>
      </p:sp>
      <p:sp>
        <p:nvSpPr>
          <p:cNvPr id="25" name="Slide Number Placeholder 0"/>
          <p:cNvSpPr>
            <a:spLocks noGrp="1"/>
          </p:cNvSpPr>
          <p:nvPr>
            <p:ph type="sldNum" sz="quarter" idx="4294967295"/>
          </p:nvPr>
        </p:nvSpPr>
        <p:spPr>
          <a:xfrm>
            <a:off x="1120140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7A8796"/>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11480" y="256032"/>
            <a:ext cx="11338560" cy="411480"/>
          </a:xfrm>
          <a:prstGeom prst="rect">
            <a:avLst/>
          </a:prstGeom>
          <a:noFill/>
          <a:ln/>
        </p:spPr>
        <p:txBody>
          <a:bodyPr wrap="square" lIns="0" tIns="0" rIns="0" bIns="0" rtlCol="0" anchor="ctr">
            <a:normAutofit/>
          </a:bodyPr>
          <a:lstStyle/>
          <a:p>
            <a:pPr marL="0" indent="0">
              <a:buNone/>
            </a:pPr>
            <a:r>
              <a:rPr lang="en-US" sz="2500" b="1" dirty="0">
                <a:solidFill>
                  <a:srgbClr val="073B72"/>
                </a:solidFill>
                <a:latin typeface="Aptos Display" pitchFamily="34" charset="0"/>
                <a:ea typeface="Aptos Display" pitchFamily="34" charset="-122"/>
                <a:cs typeface="Aptos Display" pitchFamily="34" charset="-120"/>
              </a:rPr>
              <a:t>4. Target Users, Buyers, and Beneficiaries</a:t>
            </a:r>
            <a:endParaRPr lang="en-US" sz="2500" dirty="0"/>
          </a:p>
        </p:txBody>
      </p:sp>
      <p:sp>
        <p:nvSpPr>
          <p:cNvPr id="4" name="Shape 2"/>
          <p:cNvSpPr/>
          <p:nvPr/>
        </p:nvSpPr>
        <p:spPr>
          <a:xfrm>
            <a:off x="411480" y="1024128"/>
            <a:ext cx="11338560" cy="0"/>
          </a:xfrm>
          <a:prstGeom prst="line">
            <a:avLst/>
          </a:prstGeom>
          <a:noFill/>
          <a:ln w="12700">
            <a:solidFill>
              <a:srgbClr val="C8D1DD"/>
            </a:solidFill>
            <a:prstDash val="solid"/>
          </a:ln>
        </p:spPr>
      </p:sp>
      <p:sp>
        <p:nvSpPr>
          <p:cNvPr id="5" name="Text 3"/>
          <p:cNvSpPr/>
          <p:nvPr/>
        </p:nvSpPr>
        <p:spPr>
          <a:xfrm>
            <a:off x="411480" y="6510528"/>
            <a:ext cx="6858000" cy="164592"/>
          </a:xfrm>
          <a:prstGeom prst="rect">
            <a:avLst/>
          </a:prstGeom>
          <a:noFill/>
          <a:ln/>
        </p:spPr>
        <p:txBody>
          <a:bodyPr wrap="square" lIns="0" tIns="0" rIns="0" bIns="0" rtlCol="0" anchor="ctr">
            <a:normAutofit/>
          </a:bodyPr>
          <a:lstStyle/>
          <a:p>
            <a:pPr marL="0" indent="0">
              <a:buNone/>
            </a:pPr>
            <a:r>
              <a:rPr lang="en-US" sz="780" dirty="0">
                <a:solidFill>
                  <a:srgbClr val="7A8796"/>
                </a:solidFill>
              </a:rPr>
              <a:t>Tools &amp; Techniques End-to-End Data Pipeline Capstone</a:t>
            </a:r>
            <a:endParaRPr lang="en-US" sz="780" dirty="0"/>
          </a:p>
        </p:txBody>
      </p:sp>
      <p:sp>
        <p:nvSpPr>
          <p:cNvPr id="6" name="Text 4"/>
          <p:cNvSpPr/>
          <p:nvPr/>
        </p:nvSpPr>
        <p:spPr>
          <a:xfrm>
            <a:off x="411480" y="1327451"/>
            <a:ext cx="11155680" cy="3337560"/>
          </a:xfrm>
          <a:prstGeom prst="rect">
            <a:avLst/>
          </a:prstGeom>
          <a:solidFill>
            <a:srgbClr val="F8FAFC"/>
          </a:solidFill>
          <a:ln w="10160">
            <a:solidFill>
              <a:srgbClr val="C8D1DD"/>
            </a:solidFill>
          </a:ln>
        </p:spPr>
        <p:txBody>
          <a:bodyPr wrap="square" lIns="1143" tIns="1143" rIns="1143" bIns="1143" rtlCol="0" anchor="t">
            <a:normAutofit/>
          </a:bodyPr>
          <a:lstStyle/>
          <a:p>
            <a:pPr marL="0" indent="0">
              <a:buNone/>
            </a:pPr>
            <a:endParaRPr lang="en-US" sz="950" dirty="0"/>
          </a:p>
        </p:txBody>
      </p:sp>
      <p:sp>
        <p:nvSpPr>
          <p:cNvPr id="25" name="Slide Number Placeholder 0"/>
          <p:cNvSpPr>
            <a:spLocks noGrp="1"/>
          </p:cNvSpPr>
          <p:nvPr>
            <p:ph type="sldNum" sz="quarter" idx="4294967295"/>
          </p:nvPr>
        </p:nvSpPr>
        <p:spPr>
          <a:xfrm>
            <a:off x="1120140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7A8796"/>
                </a:solidFill>
              </a:defRPr>
            </a:lvl1pPr>
          </a:lstStyle>
          <a:p>
            <a:pPr algn="l"/>
            <a:fld id="{F7021451-1387-4CA6-816F-3879F97B5CBC}" type="slidenum">
              <a:rPr lang="en-US" b="0"/>
              <a:t>6</a:t>
            </a:fld>
            <a:endParaRPr lang="en-US"/>
          </a:p>
        </p:txBody>
      </p:sp>
      <p:graphicFrame>
        <p:nvGraphicFramePr>
          <p:cNvPr id="9" name="Table 8">
            <a:extLst>
              <a:ext uri="{FF2B5EF4-FFF2-40B4-BE49-F238E27FC236}">
                <a16:creationId xmlns:a16="http://schemas.microsoft.com/office/drawing/2014/main" id="{7287835C-83F4-1CC7-047C-C89ED544CC47}"/>
              </a:ext>
            </a:extLst>
          </p:cNvPr>
          <p:cNvGraphicFramePr>
            <a:graphicFrameLocks noGrp="1"/>
          </p:cNvGraphicFramePr>
          <p:nvPr>
            <p:extLst>
              <p:ext uri="{D42A27DB-BD31-4B8C-83A1-F6EECF244321}">
                <p14:modId xmlns:p14="http://schemas.microsoft.com/office/powerpoint/2010/main" val="3536089053"/>
              </p:ext>
            </p:extLst>
          </p:nvPr>
        </p:nvGraphicFramePr>
        <p:xfrm>
          <a:off x="685800" y="1728216"/>
          <a:ext cx="10515600" cy="2103120"/>
        </p:xfrm>
        <a:graphic>
          <a:graphicData uri="http://schemas.openxmlformats.org/drawingml/2006/table">
            <a:tbl>
              <a:tblPr/>
              <a:tblGrid>
                <a:gridCol w="2628900">
                  <a:extLst>
                    <a:ext uri="{9D8B030D-6E8A-4147-A177-3AD203B41FA5}">
                      <a16:colId xmlns:a16="http://schemas.microsoft.com/office/drawing/2014/main" val="3167369635"/>
                    </a:ext>
                  </a:extLst>
                </a:gridCol>
                <a:gridCol w="2628900">
                  <a:extLst>
                    <a:ext uri="{9D8B030D-6E8A-4147-A177-3AD203B41FA5}">
                      <a16:colId xmlns:a16="http://schemas.microsoft.com/office/drawing/2014/main" val="958369664"/>
                    </a:ext>
                  </a:extLst>
                </a:gridCol>
                <a:gridCol w="2628900">
                  <a:extLst>
                    <a:ext uri="{9D8B030D-6E8A-4147-A177-3AD203B41FA5}">
                      <a16:colId xmlns:a16="http://schemas.microsoft.com/office/drawing/2014/main" val="1833916200"/>
                    </a:ext>
                  </a:extLst>
                </a:gridCol>
                <a:gridCol w="2628900">
                  <a:extLst>
                    <a:ext uri="{9D8B030D-6E8A-4147-A177-3AD203B41FA5}">
                      <a16:colId xmlns:a16="http://schemas.microsoft.com/office/drawing/2014/main" val="4219574359"/>
                    </a:ext>
                  </a:extLst>
                </a:gridCol>
              </a:tblGrid>
              <a:tr h="0">
                <a:tc>
                  <a:txBody>
                    <a:bodyPr/>
                    <a:lstStyle/>
                    <a:p>
                      <a:pPr>
                        <a:buNone/>
                      </a:pPr>
                      <a:r>
                        <a:rPr lang="en-PK" b="1" dirty="0"/>
                        <a:t>Role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b="1" dirty="0"/>
                        <a:t>Who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b="1" dirty="0"/>
                        <a:t>Problem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b="1" dirty="0"/>
                        <a:t>Benefit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6951341"/>
                  </a:ext>
                </a:extLst>
              </a:tr>
              <a:tr h="0">
                <a:tc>
                  <a:txBody>
                    <a:bodyPr/>
                    <a:lstStyle/>
                    <a:p>
                      <a:pPr>
                        <a:buNone/>
                      </a:pPr>
                      <a:r>
                        <a:rPr lang="en-PK"/>
                        <a:t>Primary User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Security Analysts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Manual monitoring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Centralized dashboard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16083999"/>
                  </a:ext>
                </a:extLst>
              </a:tr>
              <a:tr h="0">
                <a:tc>
                  <a:txBody>
                    <a:bodyPr/>
                    <a:lstStyle/>
                    <a:p>
                      <a:pPr>
                        <a:buNone/>
                      </a:pPr>
                      <a:r>
                        <a:rPr lang="en-PK"/>
                        <a:t>Secondary User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Journalists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Scattered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Quick trend 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1250366"/>
                  </a:ext>
                </a:extLst>
              </a:tr>
              <a:tr h="0">
                <a:tc>
                  <a:txBody>
                    <a:bodyPr/>
                    <a:lstStyle/>
                    <a:p>
                      <a:pPr>
                        <a:buNone/>
                      </a:pPr>
                      <a:r>
                        <a:rPr lang="en-PK"/>
                        <a:t>Buyer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Security Companies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High monitoring cost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Automated intelligence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7371420"/>
                  </a:ext>
                </a:extLst>
              </a:tr>
              <a:tr h="0">
                <a:tc>
                  <a:txBody>
                    <a:bodyPr/>
                    <a:lstStyle/>
                    <a:p>
                      <a:pPr>
                        <a:buNone/>
                      </a:pPr>
                      <a:r>
                        <a:rPr lang="en-PK"/>
                        <a:t>Beneficiary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Citizens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Lack of awareness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Improved safety awareness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1070700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11480" y="256032"/>
            <a:ext cx="11338560" cy="411480"/>
          </a:xfrm>
          <a:prstGeom prst="rect">
            <a:avLst/>
          </a:prstGeom>
          <a:noFill/>
          <a:ln/>
        </p:spPr>
        <p:txBody>
          <a:bodyPr wrap="square" lIns="0" tIns="0" rIns="0" bIns="0" rtlCol="0" anchor="ctr">
            <a:normAutofit/>
          </a:bodyPr>
          <a:lstStyle/>
          <a:p>
            <a:pPr marL="0" indent="0">
              <a:buNone/>
            </a:pPr>
            <a:r>
              <a:rPr lang="en-US" sz="2500" b="1" dirty="0">
                <a:solidFill>
                  <a:srgbClr val="073B72"/>
                </a:solidFill>
                <a:latin typeface="Aptos Display" pitchFamily="34" charset="0"/>
                <a:ea typeface="Aptos Display" pitchFamily="34" charset="-122"/>
                <a:cs typeface="Aptos Display" pitchFamily="34" charset="-120"/>
              </a:rPr>
              <a:t>5. First 100 Users / Customers Plan</a:t>
            </a:r>
            <a:endParaRPr lang="en-US" sz="2500" dirty="0"/>
          </a:p>
        </p:txBody>
      </p:sp>
      <p:sp>
        <p:nvSpPr>
          <p:cNvPr id="3" name="Text 1"/>
          <p:cNvSpPr/>
          <p:nvPr/>
        </p:nvSpPr>
        <p:spPr>
          <a:xfrm>
            <a:off x="429768" y="713232"/>
            <a:ext cx="11247120" cy="256032"/>
          </a:xfrm>
          <a:prstGeom prst="rect">
            <a:avLst/>
          </a:prstGeom>
          <a:noFill/>
          <a:ln/>
        </p:spPr>
        <p:txBody>
          <a:bodyPr wrap="square" lIns="0" tIns="0" rIns="0" bIns="0" rtlCol="0" anchor="ctr">
            <a:normAutofit/>
          </a:bodyPr>
          <a:lstStyle/>
          <a:p>
            <a:pPr marL="0" indent="0">
              <a:buNone/>
            </a:pPr>
            <a:r>
              <a:rPr lang="en-US" sz="1150" dirty="0">
                <a:solidFill>
                  <a:srgbClr val="56606B"/>
                </a:solidFill>
              </a:rPr>
              <a:t>Show how your project could reach real users.</a:t>
            </a:r>
            <a:endParaRPr lang="en-US" sz="1150" dirty="0"/>
          </a:p>
        </p:txBody>
      </p:sp>
      <p:sp>
        <p:nvSpPr>
          <p:cNvPr id="4" name="Shape 2"/>
          <p:cNvSpPr/>
          <p:nvPr/>
        </p:nvSpPr>
        <p:spPr>
          <a:xfrm>
            <a:off x="411480" y="1024128"/>
            <a:ext cx="11338560" cy="0"/>
          </a:xfrm>
          <a:prstGeom prst="line">
            <a:avLst/>
          </a:prstGeom>
          <a:noFill/>
          <a:ln w="12700">
            <a:solidFill>
              <a:srgbClr val="C8D1DD"/>
            </a:solidFill>
            <a:prstDash val="solid"/>
          </a:ln>
        </p:spPr>
      </p:sp>
      <p:sp>
        <p:nvSpPr>
          <p:cNvPr id="5" name="Text 3"/>
          <p:cNvSpPr/>
          <p:nvPr/>
        </p:nvSpPr>
        <p:spPr>
          <a:xfrm>
            <a:off x="411480" y="6510528"/>
            <a:ext cx="6858000" cy="164592"/>
          </a:xfrm>
          <a:prstGeom prst="rect">
            <a:avLst/>
          </a:prstGeom>
          <a:noFill/>
          <a:ln/>
        </p:spPr>
        <p:txBody>
          <a:bodyPr wrap="square" lIns="0" tIns="0" rIns="0" bIns="0" rtlCol="0" anchor="ctr">
            <a:normAutofit/>
          </a:bodyPr>
          <a:lstStyle/>
          <a:p>
            <a:pPr marL="0" indent="0">
              <a:buNone/>
            </a:pPr>
            <a:r>
              <a:rPr lang="en-US" sz="780" dirty="0">
                <a:solidFill>
                  <a:srgbClr val="7A8796"/>
                </a:solidFill>
              </a:rPr>
              <a:t>Tools &amp; Techniques End-to-End Data Pipeline Capstone</a:t>
            </a:r>
            <a:endParaRPr lang="en-US" sz="780" dirty="0"/>
          </a:p>
        </p:txBody>
      </p:sp>
      <p:sp>
        <p:nvSpPr>
          <p:cNvPr id="6" name="Text 4"/>
          <p:cNvSpPr/>
          <p:nvPr/>
        </p:nvSpPr>
        <p:spPr>
          <a:xfrm>
            <a:off x="502920" y="1417320"/>
            <a:ext cx="11155680" cy="2423160"/>
          </a:xfrm>
          <a:prstGeom prst="rect">
            <a:avLst/>
          </a:prstGeom>
          <a:solidFill>
            <a:srgbClr val="F8FAFC"/>
          </a:solidFill>
          <a:ln w="10160">
            <a:solidFill>
              <a:srgbClr val="C8D1DD"/>
            </a:solidFill>
          </a:ln>
        </p:spPr>
        <p:txBody>
          <a:bodyPr wrap="square" lIns="1143" tIns="1143" rIns="1143" bIns="1143" rtlCol="0" anchor="t">
            <a:normAutofit/>
          </a:bodyPr>
          <a:lstStyle/>
          <a:p>
            <a:pPr marL="0" indent="0">
              <a:buNone/>
            </a:pPr>
            <a:endParaRPr lang="en-US" sz="950" dirty="0"/>
          </a:p>
        </p:txBody>
      </p:sp>
      <p:sp>
        <p:nvSpPr>
          <p:cNvPr id="7" name="Text 5"/>
          <p:cNvSpPr/>
          <p:nvPr/>
        </p:nvSpPr>
        <p:spPr>
          <a:xfrm>
            <a:off x="525780" y="4224528"/>
            <a:ext cx="10835640" cy="1609344"/>
          </a:xfrm>
          <a:prstGeom prst="rect">
            <a:avLst/>
          </a:prstGeom>
          <a:solidFill>
            <a:srgbClr val="F0F9FF"/>
          </a:solidFill>
          <a:ln w="10160">
            <a:solidFill>
              <a:srgbClr val="C8D1DD"/>
            </a:solidFill>
          </a:ln>
        </p:spPr>
        <p:txBody>
          <a:bodyPr wrap="square" lIns="1524" tIns="1524" rIns="1524" bIns="1524" rtlCol="0" anchor="t">
            <a:normAutofit/>
          </a:bodyPr>
          <a:lstStyle/>
          <a:p>
            <a:r>
              <a:rPr lang="en-US" sz="1450" b="1" dirty="0">
                <a:solidFill>
                  <a:srgbClr val="073B72"/>
                </a:solidFill>
              </a:rPr>
              <a:t>Adoption Strategy
</a:t>
            </a:r>
            <a:r>
              <a:rPr lang="en-PK" sz="1600" dirty="0"/>
              <a:t>Offer 30-day trial </a:t>
            </a:r>
            <a:endParaRPr lang="en-GB" sz="1600" dirty="0"/>
          </a:p>
          <a:p>
            <a:r>
              <a:rPr lang="en-PK" sz="1600" dirty="0"/>
              <a:t>Demo dashboard </a:t>
            </a:r>
            <a:endParaRPr lang="en-GB" sz="1600" dirty="0"/>
          </a:p>
          <a:p>
            <a:r>
              <a:rPr lang="en-PK" sz="1600" dirty="0"/>
              <a:t>Collect feedback </a:t>
            </a:r>
            <a:endParaRPr lang="en-GB" sz="1600" dirty="0"/>
          </a:p>
          <a:p>
            <a:r>
              <a:rPr lang="en-PK" sz="1600" dirty="0"/>
              <a:t>Improve features </a:t>
            </a:r>
            <a:endParaRPr lang="en-GB" sz="1600" dirty="0"/>
          </a:p>
          <a:p>
            <a:r>
              <a:rPr lang="en-PK" sz="1600" dirty="0"/>
              <a:t>Convert pilots into paid users</a:t>
            </a:r>
            <a:endParaRPr lang="en-US" sz="1450" dirty="0"/>
          </a:p>
        </p:txBody>
      </p:sp>
      <p:sp>
        <p:nvSpPr>
          <p:cNvPr id="25" name="Slide Number Placeholder 0"/>
          <p:cNvSpPr>
            <a:spLocks noGrp="1"/>
          </p:cNvSpPr>
          <p:nvPr>
            <p:ph type="sldNum" sz="quarter" idx="4294967295"/>
          </p:nvPr>
        </p:nvSpPr>
        <p:spPr>
          <a:xfrm>
            <a:off x="1120140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7A8796"/>
                </a:solidFill>
              </a:defRPr>
            </a:lvl1pPr>
          </a:lstStyle>
          <a:p>
            <a:pPr algn="l"/>
            <a:fld id="{F7021451-1387-4CA6-816F-3879F97B5CBC}" type="slidenum">
              <a:rPr lang="en-US" b="0"/>
              <a:t>7</a:t>
            </a:fld>
            <a:endParaRPr lang="en-US"/>
          </a:p>
        </p:txBody>
      </p:sp>
      <p:graphicFrame>
        <p:nvGraphicFramePr>
          <p:cNvPr id="9" name="Table 8">
            <a:extLst>
              <a:ext uri="{FF2B5EF4-FFF2-40B4-BE49-F238E27FC236}">
                <a16:creationId xmlns:a16="http://schemas.microsoft.com/office/drawing/2014/main" id="{DAC732E6-2EBA-3EB1-2F83-74C4DA2A6184}"/>
              </a:ext>
            </a:extLst>
          </p:cNvPr>
          <p:cNvGraphicFramePr>
            <a:graphicFrameLocks noGrp="1"/>
          </p:cNvGraphicFramePr>
          <p:nvPr>
            <p:extLst>
              <p:ext uri="{D42A27DB-BD31-4B8C-83A1-F6EECF244321}">
                <p14:modId xmlns:p14="http://schemas.microsoft.com/office/powerpoint/2010/main" val="1573978778"/>
              </p:ext>
            </p:extLst>
          </p:nvPr>
        </p:nvGraphicFramePr>
        <p:xfrm>
          <a:off x="685800" y="1915668"/>
          <a:ext cx="10515600" cy="1463040"/>
        </p:xfrm>
        <a:graphic>
          <a:graphicData uri="http://schemas.openxmlformats.org/drawingml/2006/table">
            <a:tbl>
              <a:tblPr/>
              <a:tblGrid>
                <a:gridCol w="2628900">
                  <a:extLst>
                    <a:ext uri="{9D8B030D-6E8A-4147-A177-3AD203B41FA5}">
                      <a16:colId xmlns:a16="http://schemas.microsoft.com/office/drawing/2014/main" val="459107750"/>
                    </a:ext>
                  </a:extLst>
                </a:gridCol>
                <a:gridCol w="2628900">
                  <a:extLst>
                    <a:ext uri="{9D8B030D-6E8A-4147-A177-3AD203B41FA5}">
                      <a16:colId xmlns:a16="http://schemas.microsoft.com/office/drawing/2014/main" val="4003923418"/>
                    </a:ext>
                  </a:extLst>
                </a:gridCol>
                <a:gridCol w="2628900">
                  <a:extLst>
                    <a:ext uri="{9D8B030D-6E8A-4147-A177-3AD203B41FA5}">
                      <a16:colId xmlns:a16="http://schemas.microsoft.com/office/drawing/2014/main" val="1930939147"/>
                    </a:ext>
                  </a:extLst>
                </a:gridCol>
                <a:gridCol w="2628900">
                  <a:extLst>
                    <a:ext uri="{9D8B030D-6E8A-4147-A177-3AD203B41FA5}">
                      <a16:colId xmlns:a16="http://schemas.microsoft.com/office/drawing/2014/main" val="3617759012"/>
                    </a:ext>
                  </a:extLst>
                </a:gridCol>
              </a:tblGrid>
              <a:tr h="0">
                <a:tc>
                  <a:txBody>
                    <a:bodyPr/>
                    <a:lstStyle/>
                    <a:p>
                      <a:pPr>
                        <a:buNone/>
                      </a:pPr>
                      <a:r>
                        <a:rPr lang="en-PK" b="1" dirty="0"/>
                        <a:t>Segment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b="1"/>
                        <a:t>Where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b="1"/>
                        <a:t>Approach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b="1" dirty="0"/>
                        <a:t>Offer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609406"/>
                  </a:ext>
                </a:extLst>
              </a:tr>
              <a:tr h="0">
                <a:tc>
                  <a:txBody>
                    <a:bodyPr/>
                    <a:lstStyle/>
                    <a:p>
                      <a:pPr>
                        <a:buNone/>
                      </a:pPr>
                      <a:r>
                        <a:rPr lang="en-PK"/>
                        <a:t>Security Firms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LinkedIn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Live Demo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Free Trial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2023092"/>
                  </a:ext>
                </a:extLst>
              </a:tr>
              <a:tr h="0">
                <a:tc>
                  <a:txBody>
                    <a:bodyPr/>
                    <a:lstStyle/>
                    <a:p>
                      <a:pPr>
                        <a:buNone/>
                      </a:pPr>
                      <a:r>
                        <a:rPr lang="en-PK"/>
                        <a:t>Journalists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Media Networks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Demonstration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Dashboard Access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0339022"/>
                  </a:ext>
                </a:extLst>
              </a:tr>
              <a:tr h="149990">
                <a:tc>
                  <a:txBody>
                    <a:bodyPr/>
                    <a:lstStyle/>
                    <a:p>
                      <a:pPr>
                        <a:buNone/>
                      </a:pPr>
                      <a:r>
                        <a:rPr lang="en-PK"/>
                        <a:t>NGOs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Conferences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Pilot Program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Free Evaluation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642473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11480" y="256032"/>
            <a:ext cx="11338560" cy="411480"/>
          </a:xfrm>
          <a:prstGeom prst="rect">
            <a:avLst/>
          </a:prstGeom>
          <a:noFill/>
          <a:ln/>
        </p:spPr>
        <p:txBody>
          <a:bodyPr wrap="square" lIns="0" tIns="0" rIns="0" bIns="0" rtlCol="0" anchor="ctr">
            <a:normAutofit/>
          </a:bodyPr>
          <a:lstStyle/>
          <a:p>
            <a:pPr marL="0" indent="0">
              <a:buNone/>
            </a:pPr>
            <a:r>
              <a:rPr lang="en-US" sz="2500" b="1" dirty="0">
                <a:solidFill>
                  <a:srgbClr val="073B72"/>
                </a:solidFill>
                <a:latin typeface="Aptos Display" pitchFamily="34" charset="0"/>
                <a:ea typeface="Aptos Display" pitchFamily="34" charset="-122"/>
                <a:cs typeface="Aptos Display" pitchFamily="34" charset="-120"/>
              </a:rPr>
              <a:t>6. Survey / Requirement Collection Method</a:t>
            </a:r>
            <a:endParaRPr lang="en-US" sz="2500" dirty="0"/>
          </a:p>
        </p:txBody>
      </p:sp>
      <p:sp>
        <p:nvSpPr>
          <p:cNvPr id="4" name="Shape 2"/>
          <p:cNvSpPr/>
          <p:nvPr/>
        </p:nvSpPr>
        <p:spPr>
          <a:xfrm>
            <a:off x="411480" y="1024128"/>
            <a:ext cx="11338560" cy="0"/>
          </a:xfrm>
          <a:prstGeom prst="line">
            <a:avLst/>
          </a:prstGeom>
          <a:noFill/>
          <a:ln w="12700">
            <a:solidFill>
              <a:srgbClr val="C8D1DD"/>
            </a:solidFill>
            <a:prstDash val="solid"/>
          </a:ln>
        </p:spPr>
      </p:sp>
      <p:sp>
        <p:nvSpPr>
          <p:cNvPr id="5" name="Text 3"/>
          <p:cNvSpPr/>
          <p:nvPr/>
        </p:nvSpPr>
        <p:spPr>
          <a:xfrm>
            <a:off x="411480" y="6510528"/>
            <a:ext cx="6858000" cy="164592"/>
          </a:xfrm>
          <a:prstGeom prst="rect">
            <a:avLst/>
          </a:prstGeom>
          <a:noFill/>
          <a:ln/>
        </p:spPr>
        <p:txBody>
          <a:bodyPr wrap="square" lIns="0" tIns="0" rIns="0" bIns="0" rtlCol="0" anchor="ctr">
            <a:normAutofit/>
          </a:bodyPr>
          <a:lstStyle/>
          <a:p>
            <a:pPr marL="0" indent="0">
              <a:buNone/>
            </a:pPr>
            <a:r>
              <a:rPr lang="en-US" sz="780" dirty="0">
                <a:solidFill>
                  <a:srgbClr val="7A8796"/>
                </a:solidFill>
              </a:rPr>
              <a:t>Tools &amp; Techniques End-to-End Data Pipeline Capstone</a:t>
            </a:r>
            <a:endParaRPr lang="en-US" sz="780" dirty="0"/>
          </a:p>
        </p:txBody>
      </p:sp>
      <p:sp>
        <p:nvSpPr>
          <p:cNvPr id="6" name="Text 4"/>
          <p:cNvSpPr/>
          <p:nvPr/>
        </p:nvSpPr>
        <p:spPr>
          <a:xfrm>
            <a:off x="640080" y="1325880"/>
            <a:ext cx="5303520" cy="1005840"/>
          </a:xfrm>
          <a:prstGeom prst="rect">
            <a:avLst/>
          </a:prstGeom>
          <a:solidFill>
            <a:srgbClr val="EAF3FF"/>
          </a:solidFill>
          <a:ln w="10160">
            <a:solidFill>
              <a:srgbClr val="C8D1DD"/>
            </a:solidFill>
          </a:ln>
        </p:spPr>
        <p:txBody>
          <a:bodyPr wrap="square" lIns="1524" tIns="1524" rIns="1524" bIns="1524" rtlCol="0" anchor="t">
            <a:normAutofit/>
          </a:bodyPr>
          <a:lstStyle/>
          <a:p>
            <a:r>
              <a:rPr lang="en-US" sz="1450" b="1" dirty="0">
                <a:solidFill>
                  <a:srgbClr val="073B72"/>
                </a:solidFill>
              </a:rPr>
              <a:t>Survey Method
</a:t>
            </a:r>
            <a:r>
              <a:rPr lang="en-PK" sz="1600" dirty="0"/>
              <a:t>Google Forms</a:t>
            </a:r>
            <a:endParaRPr lang="en-US" sz="1450" dirty="0"/>
          </a:p>
        </p:txBody>
      </p:sp>
      <p:sp>
        <p:nvSpPr>
          <p:cNvPr id="7" name="Text 5"/>
          <p:cNvSpPr/>
          <p:nvPr/>
        </p:nvSpPr>
        <p:spPr>
          <a:xfrm>
            <a:off x="6172200" y="1325880"/>
            <a:ext cx="5303520" cy="1005840"/>
          </a:xfrm>
          <a:prstGeom prst="rect">
            <a:avLst/>
          </a:prstGeom>
          <a:solidFill>
            <a:srgbClr val="FFF7E6"/>
          </a:solidFill>
          <a:ln w="10160">
            <a:solidFill>
              <a:srgbClr val="C8D1DD"/>
            </a:solidFill>
          </a:ln>
        </p:spPr>
        <p:txBody>
          <a:bodyPr wrap="square" lIns="1524" tIns="1524" rIns="1524" bIns="1524" rtlCol="0" anchor="t">
            <a:normAutofit/>
          </a:bodyPr>
          <a:lstStyle/>
          <a:p>
            <a:pPr marL="0" indent="0">
              <a:buNone/>
            </a:pPr>
            <a:r>
              <a:rPr lang="en-US" sz="1450" b="1" dirty="0">
                <a:solidFill>
                  <a:srgbClr val="073B72"/>
                </a:solidFill>
              </a:rPr>
              <a:t>Required Attachment
</a:t>
            </a:r>
            <a:r>
              <a:rPr lang="en-US" sz="1450" dirty="0">
                <a:solidFill>
                  <a:srgbClr val="263238"/>
                </a:solidFill>
              </a:rPr>
              <a:t>Survey_Responses.xlsx</a:t>
            </a:r>
            <a:endParaRPr lang="en-US" sz="1450" dirty="0"/>
          </a:p>
          <a:p>
            <a:pPr marL="0" indent="0">
              <a:buNone/>
            </a:pPr>
            <a:r>
              <a:rPr lang="en-US" sz="1450" dirty="0">
                <a:solidFill>
                  <a:srgbClr val="263238"/>
                </a:solidFill>
              </a:rPr>
              <a:t>Survey_Questionnaire.docx</a:t>
            </a:r>
            <a:endParaRPr lang="en-US" sz="1450" dirty="0"/>
          </a:p>
          <a:p>
            <a:pPr marL="0" indent="0">
              <a:buNone/>
            </a:pPr>
            <a:r>
              <a:rPr lang="en-US" sz="1450" dirty="0">
                <a:solidFill>
                  <a:srgbClr val="263238"/>
                </a:solidFill>
              </a:rPr>
              <a:t>Survey_Summary.docx</a:t>
            </a:r>
            <a:endParaRPr lang="en-US" sz="1450" dirty="0"/>
          </a:p>
        </p:txBody>
      </p:sp>
      <p:sp>
        <p:nvSpPr>
          <p:cNvPr id="8" name="Text 6"/>
          <p:cNvSpPr/>
          <p:nvPr/>
        </p:nvSpPr>
        <p:spPr>
          <a:xfrm>
            <a:off x="640080" y="2743200"/>
            <a:ext cx="10835640" cy="2148840"/>
          </a:xfrm>
          <a:prstGeom prst="rect">
            <a:avLst/>
          </a:prstGeom>
          <a:solidFill>
            <a:srgbClr val="F8FAFC"/>
          </a:solidFill>
          <a:ln w="10160">
            <a:solidFill>
              <a:srgbClr val="C8D1DD"/>
            </a:solidFill>
          </a:ln>
        </p:spPr>
        <p:txBody>
          <a:bodyPr wrap="square" lIns="1143" tIns="1143" rIns="1143" bIns="1143" rtlCol="0" anchor="t">
            <a:normAutofit/>
          </a:bodyPr>
          <a:lstStyle/>
          <a:p>
            <a:pPr marL="0" indent="0">
              <a:buNone/>
            </a:pPr>
            <a:endParaRPr lang="en-US" sz="950" dirty="0"/>
          </a:p>
        </p:txBody>
      </p:sp>
      <p:sp>
        <p:nvSpPr>
          <p:cNvPr id="25" name="Slide Number Placeholder 0"/>
          <p:cNvSpPr>
            <a:spLocks noGrp="1"/>
          </p:cNvSpPr>
          <p:nvPr>
            <p:ph type="sldNum" sz="quarter" idx="4294967295"/>
          </p:nvPr>
        </p:nvSpPr>
        <p:spPr>
          <a:xfrm>
            <a:off x="1120140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7A8796"/>
                </a:solidFill>
              </a:defRPr>
            </a:lvl1pPr>
          </a:lstStyle>
          <a:p>
            <a:pPr algn="l"/>
            <a:fld id="{F7021451-1387-4CA6-816F-3879F97B5CBC}" type="slidenum">
              <a:rPr lang="en-US" b="0"/>
              <a:t>8</a:t>
            </a:fld>
            <a:endParaRPr lang="en-US"/>
          </a:p>
        </p:txBody>
      </p:sp>
      <p:graphicFrame>
        <p:nvGraphicFramePr>
          <p:cNvPr id="10" name="Table 9">
            <a:extLst>
              <a:ext uri="{FF2B5EF4-FFF2-40B4-BE49-F238E27FC236}">
                <a16:creationId xmlns:a16="http://schemas.microsoft.com/office/drawing/2014/main" id="{DCA8E86B-A916-078A-0BE2-BBF602290F10}"/>
              </a:ext>
            </a:extLst>
          </p:cNvPr>
          <p:cNvGraphicFramePr>
            <a:graphicFrameLocks noGrp="1"/>
          </p:cNvGraphicFramePr>
          <p:nvPr>
            <p:extLst>
              <p:ext uri="{D42A27DB-BD31-4B8C-83A1-F6EECF244321}">
                <p14:modId xmlns:p14="http://schemas.microsoft.com/office/powerpoint/2010/main" val="2938028812"/>
              </p:ext>
            </p:extLst>
          </p:nvPr>
        </p:nvGraphicFramePr>
        <p:xfrm>
          <a:off x="795528" y="2798063"/>
          <a:ext cx="10515600" cy="1828800"/>
        </p:xfrm>
        <a:graphic>
          <a:graphicData uri="http://schemas.openxmlformats.org/drawingml/2006/table">
            <a:tbl>
              <a:tblPr/>
              <a:tblGrid>
                <a:gridCol w="5257800">
                  <a:extLst>
                    <a:ext uri="{9D8B030D-6E8A-4147-A177-3AD203B41FA5}">
                      <a16:colId xmlns:a16="http://schemas.microsoft.com/office/drawing/2014/main" val="2563464004"/>
                    </a:ext>
                  </a:extLst>
                </a:gridCol>
                <a:gridCol w="5257800">
                  <a:extLst>
                    <a:ext uri="{9D8B030D-6E8A-4147-A177-3AD203B41FA5}">
                      <a16:colId xmlns:a16="http://schemas.microsoft.com/office/drawing/2014/main" val="4039624776"/>
                    </a:ext>
                  </a:extLst>
                </a:gridCol>
              </a:tblGrid>
              <a:tr h="0">
                <a:tc>
                  <a:txBody>
                    <a:bodyPr/>
                    <a:lstStyle/>
                    <a:p>
                      <a:pPr>
                        <a:buNone/>
                      </a:pPr>
                      <a:r>
                        <a:rPr lang="en-PK" b="1"/>
                        <a:t>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b="1" dirty="0"/>
                        <a:t>Question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19616968"/>
                  </a:ext>
                </a:extLst>
              </a:tr>
              <a:tr h="0">
                <a:tc>
                  <a:txBody>
                    <a:bodyPr/>
                    <a:lstStyle/>
                    <a:p>
                      <a:pPr>
                        <a:buNone/>
                      </a:pPr>
                      <a:r>
                        <a:rPr lang="en-PK"/>
                        <a:t>Problem Frequency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Do you follow crime news?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9195126"/>
                  </a:ext>
                </a:extLst>
              </a:tr>
              <a:tr h="0">
                <a:tc>
                  <a:txBody>
                    <a:bodyPr/>
                    <a:lstStyle/>
                    <a:p>
                      <a:pPr>
                        <a:buNone/>
                      </a:pPr>
                      <a:r>
                        <a:rPr lang="en-PK"/>
                        <a:t>Feature Priority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Alerts, trends or comparisons?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2043667"/>
                  </a:ext>
                </a:extLst>
              </a:tr>
              <a:tr h="0">
                <a:tc>
                  <a:txBody>
                    <a:bodyPr/>
                    <a:lstStyle/>
                    <a:p>
                      <a:pPr>
                        <a:buNone/>
                      </a:pPr>
                      <a:r>
                        <a:rPr lang="en-PK"/>
                        <a:t>Adoption Interest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Would you use a dashboard?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2623954"/>
                  </a:ext>
                </a:extLst>
              </a:tr>
              <a:tr h="0">
                <a:tc>
                  <a:txBody>
                    <a:bodyPr/>
                    <a:lstStyle/>
                    <a:p>
                      <a:pPr>
                        <a:buNone/>
                      </a:pPr>
                      <a:r>
                        <a:rPr lang="en-PK"/>
                        <a:t>Open Feedback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What feature matters most?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2348042"/>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11480" y="256032"/>
            <a:ext cx="11338560" cy="411480"/>
          </a:xfrm>
          <a:prstGeom prst="rect">
            <a:avLst/>
          </a:prstGeom>
          <a:noFill/>
          <a:ln/>
        </p:spPr>
        <p:txBody>
          <a:bodyPr wrap="square" lIns="0" tIns="0" rIns="0" bIns="0" rtlCol="0" anchor="ctr">
            <a:normAutofit/>
          </a:bodyPr>
          <a:lstStyle/>
          <a:p>
            <a:pPr marL="0" indent="0">
              <a:buNone/>
            </a:pPr>
            <a:r>
              <a:rPr lang="en-US" sz="2500" b="1" dirty="0">
                <a:solidFill>
                  <a:srgbClr val="073B72"/>
                </a:solidFill>
                <a:latin typeface="Aptos Display" pitchFamily="34" charset="0"/>
                <a:ea typeface="Aptos Display" pitchFamily="34" charset="-122"/>
                <a:cs typeface="Aptos Display" pitchFamily="34" charset="-120"/>
              </a:rPr>
              <a:t>7. Survey Findings and Requirement Changes</a:t>
            </a:r>
            <a:endParaRPr lang="en-US" sz="2500" dirty="0"/>
          </a:p>
        </p:txBody>
      </p:sp>
      <p:sp>
        <p:nvSpPr>
          <p:cNvPr id="3" name="Text 1"/>
          <p:cNvSpPr/>
          <p:nvPr/>
        </p:nvSpPr>
        <p:spPr>
          <a:xfrm>
            <a:off x="429768" y="713232"/>
            <a:ext cx="11247120" cy="256032"/>
          </a:xfrm>
          <a:prstGeom prst="rect">
            <a:avLst/>
          </a:prstGeom>
          <a:noFill/>
          <a:ln/>
        </p:spPr>
        <p:txBody>
          <a:bodyPr wrap="square" lIns="0" tIns="0" rIns="0" bIns="0" rtlCol="0" anchor="ctr">
            <a:normAutofit/>
          </a:bodyPr>
          <a:lstStyle/>
          <a:p>
            <a:pPr marL="0" indent="0">
              <a:buNone/>
            </a:pPr>
            <a:r>
              <a:rPr lang="en-US" sz="1150" dirty="0">
                <a:solidFill>
                  <a:srgbClr val="56606B"/>
                </a:solidFill>
              </a:rPr>
              <a:t>Show numbers, not only statements.</a:t>
            </a:r>
            <a:endParaRPr lang="en-US" sz="1150" dirty="0"/>
          </a:p>
        </p:txBody>
      </p:sp>
      <p:sp>
        <p:nvSpPr>
          <p:cNvPr id="4" name="Shape 2"/>
          <p:cNvSpPr/>
          <p:nvPr/>
        </p:nvSpPr>
        <p:spPr>
          <a:xfrm>
            <a:off x="411480" y="1024128"/>
            <a:ext cx="11338560" cy="0"/>
          </a:xfrm>
          <a:prstGeom prst="line">
            <a:avLst/>
          </a:prstGeom>
          <a:noFill/>
          <a:ln w="12700">
            <a:solidFill>
              <a:srgbClr val="C8D1DD"/>
            </a:solidFill>
            <a:prstDash val="solid"/>
          </a:ln>
        </p:spPr>
      </p:sp>
      <p:sp>
        <p:nvSpPr>
          <p:cNvPr id="5" name="Text 3"/>
          <p:cNvSpPr/>
          <p:nvPr/>
        </p:nvSpPr>
        <p:spPr>
          <a:xfrm>
            <a:off x="411480" y="6510528"/>
            <a:ext cx="6858000" cy="164592"/>
          </a:xfrm>
          <a:prstGeom prst="rect">
            <a:avLst/>
          </a:prstGeom>
          <a:noFill/>
          <a:ln/>
        </p:spPr>
        <p:txBody>
          <a:bodyPr wrap="square" lIns="0" tIns="0" rIns="0" bIns="0" rtlCol="0" anchor="ctr">
            <a:normAutofit/>
          </a:bodyPr>
          <a:lstStyle/>
          <a:p>
            <a:pPr marL="0" indent="0">
              <a:buNone/>
            </a:pPr>
            <a:r>
              <a:rPr lang="en-US" sz="780" dirty="0">
                <a:solidFill>
                  <a:srgbClr val="7A8796"/>
                </a:solidFill>
              </a:rPr>
              <a:t>Tools &amp; Techniques End-to-End Data Pipeline Capstone</a:t>
            </a:r>
            <a:endParaRPr lang="en-US" sz="780" dirty="0"/>
          </a:p>
        </p:txBody>
      </p:sp>
      <p:sp>
        <p:nvSpPr>
          <p:cNvPr id="6" name="Text 4"/>
          <p:cNvSpPr/>
          <p:nvPr/>
        </p:nvSpPr>
        <p:spPr>
          <a:xfrm>
            <a:off x="502920" y="1325880"/>
            <a:ext cx="11155680" cy="3017520"/>
          </a:xfrm>
          <a:prstGeom prst="rect">
            <a:avLst/>
          </a:prstGeom>
          <a:solidFill>
            <a:srgbClr val="F8FAFC"/>
          </a:solidFill>
          <a:ln w="10160">
            <a:solidFill>
              <a:srgbClr val="C8D1DD"/>
            </a:solidFill>
          </a:ln>
        </p:spPr>
        <p:txBody>
          <a:bodyPr wrap="square" lIns="1143" tIns="1143" rIns="1143" bIns="1143" rtlCol="0" anchor="t">
            <a:normAutofit/>
          </a:bodyPr>
          <a:lstStyle/>
          <a:p>
            <a:pPr marL="0" indent="0">
              <a:buNone/>
            </a:pPr>
            <a:endParaRPr lang="en-US" sz="980" dirty="0"/>
          </a:p>
        </p:txBody>
      </p:sp>
      <p:sp>
        <p:nvSpPr>
          <p:cNvPr id="7" name="Text 5"/>
          <p:cNvSpPr/>
          <p:nvPr/>
        </p:nvSpPr>
        <p:spPr>
          <a:xfrm>
            <a:off x="685800" y="4617720"/>
            <a:ext cx="5257800" cy="685800"/>
          </a:xfrm>
          <a:prstGeom prst="rect">
            <a:avLst/>
          </a:prstGeom>
          <a:solidFill>
            <a:srgbClr val="E8F4EA"/>
          </a:solidFill>
          <a:ln w="10160">
            <a:solidFill>
              <a:srgbClr val="C8D1DD"/>
            </a:solidFill>
          </a:ln>
        </p:spPr>
        <p:txBody>
          <a:bodyPr wrap="square" lIns="1524" tIns="1524" rIns="1524" bIns="1524" rtlCol="0" anchor="t">
            <a:normAutofit/>
          </a:bodyPr>
          <a:lstStyle/>
          <a:p>
            <a:r>
              <a:rPr lang="en-US" sz="1450" b="1" dirty="0">
                <a:solidFill>
                  <a:srgbClr val="073B72"/>
                </a:solidFill>
              </a:rPr>
              <a:t>Most Important Requirement
</a:t>
            </a:r>
            <a:r>
              <a:rPr lang="en-PK" sz="1600" dirty="0"/>
              <a:t>Real-time crime alerts.</a:t>
            </a:r>
            <a:endParaRPr lang="en-US" sz="1450" dirty="0"/>
          </a:p>
        </p:txBody>
      </p:sp>
      <p:sp>
        <p:nvSpPr>
          <p:cNvPr id="8" name="Text 6"/>
          <p:cNvSpPr/>
          <p:nvPr/>
        </p:nvSpPr>
        <p:spPr>
          <a:xfrm>
            <a:off x="6172200" y="4617720"/>
            <a:ext cx="5257800" cy="685800"/>
          </a:xfrm>
          <a:prstGeom prst="rect">
            <a:avLst/>
          </a:prstGeom>
          <a:solidFill>
            <a:srgbClr val="FFF2F2"/>
          </a:solidFill>
          <a:ln w="10160">
            <a:solidFill>
              <a:srgbClr val="C8D1DD"/>
            </a:solidFill>
          </a:ln>
        </p:spPr>
        <p:txBody>
          <a:bodyPr wrap="square" lIns="1524" tIns="1524" rIns="1524" bIns="1524" rtlCol="0" anchor="t">
            <a:normAutofit/>
          </a:bodyPr>
          <a:lstStyle/>
          <a:p>
            <a:r>
              <a:rPr lang="en-US" sz="1450" b="1" dirty="0">
                <a:solidFill>
                  <a:srgbClr val="073B72"/>
                </a:solidFill>
              </a:rPr>
              <a:t>Feature Removed / Reduced
</a:t>
            </a:r>
            <a:r>
              <a:rPr lang="en-PK" sz="1600" dirty="0"/>
              <a:t>Urdu-language article support due to scope limitations.</a:t>
            </a:r>
            <a:endParaRPr lang="en-US" sz="1450" dirty="0"/>
          </a:p>
        </p:txBody>
      </p:sp>
      <p:sp>
        <p:nvSpPr>
          <p:cNvPr id="25" name="Slide Number Placeholder 0"/>
          <p:cNvSpPr>
            <a:spLocks noGrp="1"/>
          </p:cNvSpPr>
          <p:nvPr>
            <p:ph type="sldNum" sz="quarter" idx="4294967295"/>
          </p:nvPr>
        </p:nvSpPr>
        <p:spPr>
          <a:xfrm>
            <a:off x="1120140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7A8796"/>
                </a:solidFill>
              </a:defRPr>
            </a:lvl1pPr>
          </a:lstStyle>
          <a:p>
            <a:pPr algn="l"/>
            <a:fld id="{F7021451-1387-4CA6-816F-3879F97B5CBC}" type="slidenum">
              <a:rPr lang="en-US" b="0"/>
              <a:t>9</a:t>
            </a:fld>
            <a:endParaRPr lang="en-US"/>
          </a:p>
        </p:txBody>
      </p:sp>
      <p:graphicFrame>
        <p:nvGraphicFramePr>
          <p:cNvPr id="10" name="Table 9">
            <a:extLst>
              <a:ext uri="{FF2B5EF4-FFF2-40B4-BE49-F238E27FC236}">
                <a16:creationId xmlns:a16="http://schemas.microsoft.com/office/drawing/2014/main" id="{CB5F4A17-679D-91B1-40B7-AE5BF4702E74}"/>
              </a:ext>
            </a:extLst>
          </p:cNvPr>
          <p:cNvGraphicFramePr>
            <a:graphicFrameLocks noGrp="1"/>
          </p:cNvGraphicFramePr>
          <p:nvPr>
            <p:extLst>
              <p:ext uri="{D42A27DB-BD31-4B8C-83A1-F6EECF244321}">
                <p14:modId xmlns:p14="http://schemas.microsoft.com/office/powerpoint/2010/main" val="2493328177"/>
              </p:ext>
            </p:extLst>
          </p:nvPr>
        </p:nvGraphicFramePr>
        <p:xfrm>
          <a:off x="795528" y="1796796"/>
          <a:ext cx="10515600" cy="1828800"/>
        </p:xfrm>
        <a:graphic>
          <a:graphicData uri="http://schemas.openxmlformats.org/drawingml/2006/table">
            <a:tbl>
              <a:tblPr/>
              <a:tblGrid>
                <a:gridCol w="3505200">
                  <a:extLst>
                    <a:ext uri="{9D8B030D-6E8A-4147-A177-3AD203B41FA5}">
                      <a16:colId xmlns:a16="http://schemas.microsoft.com/office/drawing/2014/main" val="1344201667"/>
                    </a:ext>
                  </a:extLst>
                </a:gridCol>
                <a:gridCol w="3505200">
                  <a:extLst>
                    <a:ext uri="{9D8B030D-6E8A-4147-A177-3AD203B41FA5}">
                      <a16:colId xmlns:a16="http://schemas.microsoft.com/office/drawing/2014/main" val="783569696"/>
                    </a:ext>
                  </a:extLst>
                </a:gridCol>
                <a:gridCol w="3505200">
                  <a:extLst>
                    <a:ext uri="{9D8B030D-6E8A-4147-A177-3AD203B41FA5}">
                      <a16:colId xmlns:a16="http://schemas.microsoft.com/office/drawing/2014/main" val="440082067"/>
                    </a:ext>
                  </a:extLst>
                </a:gridCol>
              </a:tblGrid>
              <a:tr h="0">
                <a:tc>
                  <a:txBody>
                    <a:bodyPr/>
                    <a:lstStyle/>
                    <a:p>
                      <a:pPr>
                        <a:buNone/>
                      </a:pPr>
                      <a:r>
                        <a:rPr lang="en-PK" b="1"/>
                        <a:t>Finding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b="1"/>
                        <a:t>Evidence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b="1" dirty="0"/>
                        <a:t>Decision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59992027"/>
                  </a:ext>
                </a:extLst>
              </a:tr>
              <a:tr h="0">
                <a:tc>
                  <a:txBody>
                    <a:bodyPr/>
                    <a:lstStyle/>
                    <a:p>
                      <a:pPr>
                        <a:buNone/>
                      </a:pPr>
                      <a:r>
                        <a:rPr lang="en-PK"/>
                        <a:t>Dashboard Needed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dirty="0"/>
                        <a:t>7</a:t>
                      </a:r>
                      <a:r>
                        <a:rPr lang="en-PK" dirty="0"/>
                        <a:t>/</a:t>
                      </a:r>
                      <a:r>
                        <a:rPr lang="en-GB" dirty="0"/>
                        <a:t>14</a:t>
                      </a:r>
                      <a:r>
                        <a:rPr lang="en-PK" dirty="0"/>
                        <a:t> Yes</a:t>
                      </a:r>
                      <a:r>
                        <a:rPr lang="en-GB" dirty="0"/>
                        <a:t> , 4 Maybe</a:t>
                      </a:r>
                      <a:endParaRPr lang="en-PK"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Build </a:t>
                      </a:r>
                      <a:r>
                        <a:rPr lang="en-PK" dirty="0" err="1"/>
                        <a:t>Streamlit</a:t>
                      </a:r>
                      <a:r>
                        <a:rPr lang="en-PK" dirty="0"/>
                        <a:t> Dashboard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4581691"/>
                  </a:ext>
                </a:extLst>
              </a:tr>
              <a:tr h="0">
                <a:tc>
                  <a:txBody>
                    <a:bodyPr/>
                    <a:lstStyle/>
                    <a:p>
                      <a:pPr>
                        <a:buNone/>
                      </a:pPr>
                      <a:r>
                        <a:rPr lang="en-PK"/>
                        <a:t>Real-time Alerts Needed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dirty="0"/>
                        <a:t>7</a:t>
                      </a:r>
                      <a:r>
                        <a:rPr lang="en-PK" dirty="0"/>
                        <a:t>/</a:t>
                      </a:r>
                      <a:r>
                        <a:rPr lang="en-GB" dirty="0"/>
                        <a:t>14</a:t>
                      </a:r>
                      <a:r>
                        <a:rPr lang="en-PK" dirty="0"/>
                        <a:t> preferred alerts</a:t>
                      </a:r>
                      <a:r>
                        <a:rPr lang="en-GB" dirty="0"/>
                        <a:t>, 4 Maybe</a:t>
                      </a:r>
                      <a:endParaRPr lang="en-PK"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Add n8n alerts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2838451"/>
                  </a:ext>
                </a:extLst>
              </a:tr>
              <a:tr h="0">
                <a:tc>
                  <a:txBody>
                    <a:bodyPr/>
                    <a:lstStyle/>
                    <a:p>
                      <a:pPr>
                        <a:buNone/>
                      </a:pPr>
                      <a:r>
                        <a:rPr lang="en-PK"/>
                        <a:t>Manual Tracking Common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dirty="0"/>
                        <a:t>14</a:t>
                      </a:r>
                      <a:r>
                        <a:rPr lang="en-PK" dirty="0"/>
                        <a:t>/</a:t>
                      </a:r>
                      <a:r>
                        <a:rPr lang="en-GB" dirty="0"/>
                        <a:t>14</a:t>
                      </a:r>
                      <a:r>
                        <a:rPr lang="en-PK" dirty="0"/>
                        <a:t> manual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Automate collection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57410182"/>
                  </a:ext>
                </a:extLst>
              </a:tr>
              <a:tr h="0">
                <a:tc>
                  <a:txBody>
                    <a:bodyPr/>
                    <a:lstStyle/>
                    <a:p>
                      <a:pPr>
                        <a:buNone/>
                      </a:pPr>
                      <a:r>
                        <a:rPr lang="en-PK"/>
                        <a:t>City Comparison Important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dirty="0"/>
                        <a:t>9</a:t>
                      </a:r>
                      <a:r>
                        <a:rPr lang="en-PK" dirty="0"/>
                        <a:t>/</a:t>
                      </a:r>
                      <a:r>
                        <a:rPr lang="en-GB" dirty="0"/>
                        <a:t>14</a:t>
                      </a:r>
                      <a:r>
                        <a:rPr lang="en-PK" dirty="0"/>
                        <a:t> </a:t>
                      </a:r>
                      <a:r>
                        <a:rPr lang="en-GB" dirty="0"/>
                        <a:t>Alerts</a:t>
                      </a:r>
                      <a:endParaRPr lang="en-PK"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Ad</a:t>
                      </a:r>
                      <a:r>
                        <a:rPr lang="en-GB" dirty="0"/>
                        <a:t>d n8n alerts</a:t>
                      </a:r>
                      <a:endParaRPr lang="en-PK"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94721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11480" y="256032"/>
            <a:ext cx="11338560" cy="411480"/>
          </a:xfrm>
          <a:prstGeom prst="rect">
            <a:avLst/>
          </a:prstGeom>
          <a:noFill/>
          <a:ln/>
        </p:spPr>
        <p:txBody>
          <a:bodyPr wrap="square" lIns="0" tIns="0" rIns="0" bIns="0" rtlCol="0" anchor="ctr">
            <a:normAutofit/>
          </a:bodyPr>
          <a:lstStyle/>
          <a:p>
            <a:pPr marL="0" indent="0">
              <a:buNone/>
            </a:pPr>
            <a:r>
              <a:rPr lang="en-US" sz="2500" b="1" dirty="0">
                <a:solidFill>
                  <a:srgbClr val="073B72"/>
                </a:solidFill>
                <a:latin typeface="Aptos Display" pitchFamily="34" charset="0"/>
                <a:ea typeface="Aptos Display" pitchFamily="34" charset="-122"/>
                <a:cs typeface="Aptos Display" pitchFamily="34" charset="-120"/>
              </a:rPr>
              <a:t>8. Contributors / Respondents Record</a:t>
            </a:r>
            <a:endParaRPr lang="en-US" sz="2500" dirty="0"/>
          </a:p>
        </p:txBody>
      </p:sp>
      <p:sp>
        <p:nvSpPr>
          <p:cNvPr id="4" name="Shape 2"/>
          <p:cNvSpPr/>
          <p:nvPr/>
        </p:nvSpPr>
        <p:spPr>
          <a:xfrm>
            <a:off x="411480" y="1024128"/>
            <a:ext cx="11338560" cy="0"/>
          </a:xfrm>
          <a:prstGeom prst="line">
            <a:avLst/>
          </a:prstGeom>
          <a:noFill/>
          <a:ln w="12700">
            <a:solidFill>
              <a:srgbClr val="C8D1DD"/>
            </a:solidFill>
            <a:prstDash val="solid"/>
          </a:ln>
        </p:spPr>
      </p:sp>
      <p:sp>
        <p:nvSpPr>
          <p:cNvPr id="5" name="Text 3"/>
          <p:cNvSpPr/>
          <p:nvPr/>
        </p:nvSpPr>
        <p:spPr>
          <a:xfrm>
            <a:off x="411480" y="6510528"/>
            <a:ext cx="6858000" cy="164592"/>
          </a:xfrm>
          <a:prstGeom prst="rect">
            <a:avLst/>
          </a:prstGeom>
          <a:noFill/>
          <a:ln/>
        </p:spPr>
        <p:txBody>
          <a:bodyPr wrap="square" lIns="0" tIns="0" rIns="0" bIns="0" rtlCol="0" anchor="ctr">
            <a:normAutofit/>
          </a:bodyPr>
          <a:lstStyle/>
          <a:p>
            <a:pPr marL="0" indent="0">
              <a:buNone/>
            </a:pPr>
            <a:r>
              <a:rPr lang="en-US" sz="780" dirty="0">
                <a:solidFill>
                  <a:srgbClr val="7A8796"/>
                </a:solidFill>
              </a:rPr>
              <a:t>Tools &amp; Techniques End-to-End Data Pipeline Capstone</a:t>
            </a:r>
            <a:endParaRPr lang="en-US" sz="780" dirty="0"/>
          </a:p>
        </p:txBody>
      </p:sp>
      <p:sp>
        <p:nvSpPr>
          <p:cNvPr id="6" name="Text 4"/>
          <p:cNvSpPr/>
          <p:nvPr/>
        </p:nvSpPr>
        <p:spPr>
          <a:xfrm>
            <a:off x="502920" y="1417320"/>
            <a:ext cx="11155680" cy="1713806"/>
          </a:xfrm>
          <a:prstGeom prst="rect">
            <a:avLst/>
          </a:prstGeom>
          <a:solidFill>
            <a:srgbClr val="F8FAFC"/>
          </a:solidFill>
          <a:ln w="10160">
            <a:solidFill>
              <a:srgbClr val="C8D1DD"/>
            </a:solidFill>
          </a:ln>
        </p:spPr>
        <p:txBody>
          <a:bodyPr wrap="square" lIns="1143" tIns="1143" rIns="1143" bIns="1143" rtlCol="0" anchor="t">
            <a:normAutofit/>
          </a:bodyPr>
          <a:lstStyle/>
          <a:p>
            <a:pPr marL="0" indent="0">
              <a:buNone/>
            </a:pPr>
            <a:endParaRPr lang="en-US" sz="980" dirty="0"/>
          </a:p>
        </p:txBody>
      </p:sp>
      <p:sp>
        <p:nvSpPr>
          <p:cNvPr id="25" name="Slide Number Placeholder 0"/>
          <p:cNvSpPr>
            <a:spLocks noGrp="1"/>
          </p:cNvSpPr>
          <p:nvPr>
            <p:ph type="sldNum" sz="quarter" idx="4294967295"/>
          </p:nvPr>
        </p:nvSpPr>
        <p:spPr>
          <a:xfrm>
            <a:off x="1120140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7A8796"/>
                </a:solidFill>
              </a:defRPr>
            </a:lvl1pPr>
          </a:lstStyle>
          <a:p>
            <a:pPr algn="l"/>
            <a:fld id="{F7021451-1387-4CA6-816F-3879F97B5CBC}" type="slidenum">
              <a:rPr lang="en-US" b="0"/>
              <a:t>10</a:t>
            </a:fld>
            <a:endParaRPr lang="en-US"/>
          </a:p>
        </p:txBody>
      </p:sp>
      <p:graphicFrame>
        <p:nvGraphicFramePr>
          <p:cNvPr id="9" name="Table 8">
            <a:extLst>
              <a:ext uri="{FF2B5EF4-FFF2-40B4-BE49-F238E27FC236}">
                <a16:creationId xmlns:a16="http://schemas.microsoft.com/office/drawing/2014/main" id="{5F9DFA56-B0A5-D9F5-87EB-7C8D6BD90FC8}"/>
              </a:ext>
            </a:extLst>
          </p:cNvPr>
          <p:cNvGraphicFramePr>
            <a:graphicFrameLocks noGrp="1"/>
          </p:cNvGraphicFramePr>
          <p:nvPr>
            <p:extLst>
              <p:ext uri="{D42A27DB-BD31-4B8C-83A1-F6EECF244321}">
                <p14:modId xmlns:p14="http://schemas.microsoft.com/office/powerpoint/2010/main" val="3874908646"/>
              </p:ext>
            </p:extLst>
          </p:nvPr>
        </p:nvGraphicFramePr>
        <p:xfrm>
          <a:off x="822960" y="1542451"/>
          <a:ext cx="10515600" cy="1463040"/>
        </p:xfrm>
        <a:graphic>
          <a:graphicData uri="http://schemas.openxmlformats.org/drawingml/2006/table">
            <a:tbl>
              <a:tblPr/>
              <a:tblGrid>
                <a:gridCol w="5257800">
                  <a:extLst>
                    <a:ext uri="{9D8B030D-6E8A-4147-A177-3AD203B41FA5}">
                      <a16:colId xmlns:a16="http://schemas.microsoft.com/office/drawing/2014/main" val="3070780484"/>
                    </a:ext>
                  </a:extLst>
                </a:gridCol>
                <a:gridCol w="5257800">
                  <a:extLst>
                    <a:ext uri="{9D8B030D-6E8A-4147-A177-3AD203B41FA5}">
                      <a16:colId xmlns:a16="http://schemas.microsoft.com/office/drawing/2014/main" val="683022419"/>
                    </a:ext>
                  </a:extLst>
                </a:gridCol>
              </a:tblGrid>
              <a:tr h="0">
                <a:tc>
                  <a:txBody>
                    <a:bodyPr/>
                    <a:lstStyle/>
                    <a:p>
                      <a:pPr>
                        <a:buNone/>
                      </a:pPr>
                      <a:r>
                        <a:rPr lang="en-PK" b="1" dirty="0"/>
                        <a:t>Category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b="1" dirty="0"/>
                        <a:t>Count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5547858"/>
                  </a:ext>
                </a:extLst>
              </a:tr>
              <a:tr h="0">
                <a:tc>
                  <a:txBody>
                    <a:bodyPr/>
                    <a:lstStyle/>
                    <a:p>
                      <a:pPr>
                        <a:buNone/>
                      </a:pPr>
                      <a:r>
                        <a:rPr lang="en-PK"/>
                        <a:t>Students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8786605"/>
                  </a:ext>
                </a:extLst>
              </a:tr>
              <a:tr h="0">
                <a:tc>
                  <a:txBody>
                    <a:bodyPr/>
                    <a:lstStyle/>
                    <a:p>
                      <a:pPr>
                        <a:buNone/>
                      </a:pPr>
                      <a:r>
                        <a:rPr lang="en-PK"/>
                        <a:t>General Public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3142282"/>
                  </a:ext>
                </a:extLst>
              </a:tr>
              <a:tr h="0">
                <a:tc>
                  <a:txBody>
                    <a:bodyPr/>
                    <a:lstStyle/>
                    <a:p>
                      <a:pPr>
                        <a:buNone/>
                      </a:pPr>
                      <a:r>
                        <a:rPr lang="en-PK"/>
                        <a:t>Other Professionals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77836806"/>
                  </a:ext>
                </a:extLst>
              </a:tr>
            </a:tbl>
          </a:graphicData>
        </a:graphic>
      </p:graphicFrame>
      <p:pic>
        <p:nvPicPr>
          <p:cNvPr id="11" name="Picture 10">
            <a:extLst>
              <a:ext uri="{FF2B5EF4-FFF2-40B4-BE49-F238E27FC236}">
                <a16:creationId xmlns:a16="http://schemas.microsoft.com/office/drawing/2014/main" id="{BA547338-EA88-C05D-8258-90719873031C}"/>
              </a:ext>
            </a:extLst>
          </p:cNvPr>
          <p:cNvPicPr>
            <a:picLocks noChangeAspect="1"/>
          </p:cNvPicPr>
          <p:nvPr/>
        </p:nvPicPr>
        <p:blipFill>
          <a:blip r:embed="rId3"/>
          <a:stretch>
            <a:fillRect/>
          </a:stretch>
        </p:blipFill>
        <p:spPr>
          <a:xfrm>
            <a:off x="2623017" y="3103764"/>
            <a:ext cx="7278365" cy="336485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11480" y="256032"/>
            <a:ext cx="11338560" cy="411480"/>
          </a:xfrm>
          <a:prstGeom prst="rect">
            <a:avLst/>
          </a:prstGeom>
          <a:noFill/>
          <a:ln/>
        </p:spPr>
        <p:txBody>
          <a:bodyPr wrap="square" lIns="0" tIns="0" rIns="0" bIns="0" rtlCol="0" anchor="ctr">
            <a:normAutofit/>
          </a:bodyPr>
          <a:lstStyle/>
          <a:p>
            <a:pPr marL="0" indent="0">
              <a:buNone/>
            </a:pPr>
            <a:r>
              <a:rPr lang="en-US" sz="2500" b="1" dirty="0">
                <a:solidFill>
                  <a:srgbClr val="073B72"/>
                </a:solidFill>
                <a:latin typeface="Aptos Display" pitchFamily="34" charset="0"/>
                <a:ea typeface="Aptos Display" pitchFamily="34" charset="-122"/>
                <a:cs typeface="Aptos Display" pitchFamily="34" charset="-120"/>
              </a:rPr>
              <a:t>9. Tools Used / Skipped Matrix</a:t>
            </a:r>
            <a:endParaRPr lang="en-US" sz="2500" dirty="0"/>
          </a:p>
        </p:txBody>
      </p:sp>
      <p:sp>
        <p:nvSpPr>
          <p:cNvPr id="3" name="Text 1"/>
          <p:cNvSpPr/>
          <p:nvPr/>
        </p:nvSpPr>
        <p:spPr>
          <a:xfrm>
            <a:off x="429768" y="713232"/>
            <a:ext cx="11247120" cy="256032"/>
          </a:xfrm>
          <a:prstGeom prst="rect">
            <a:avLst/>
          </a:prstGeom>
          <a:noFill/>
          <a:ln/>
        </p:spPr>
        <p:txBody>
          <a:bodyPr wrap="square" lIns="0" tIns="0" rIns="0" bIns="0" rtlCol="0" anchor="ctr">
            <a:normAutofit/>
          </a:bodyPr>
          <a:lstStyle/>
          <a:p>
            <a:pPr marL="0" indent="0">
              <a:buNone/>
            </a:pPr>
            <a:r>
              <a:rPr lang="en-US" sz="1150" dirty="0">
                <a:solidFill>
                  <a:srgbClr val="56606B"/>
                </a:solidFill>
              </a:rPr>
              <a:t>This slide is mandatory.</a:t>
            </a:r>
            <a:endParaRPr lang="en-US" sz="1150" dirty="0"/>
          </a:p>
        </p:txBody>
      </p:sp>
      <p:sp>
        <p:nvSpPr>
          <p:cNvPr id="4" name="Shape 2"/>
          <p:cNvSpPr/>
          <p:nvPr/>
        </p:nvSpPr>
        <p:spPr>
          <a:xfrm>
            <a:off x="411480" y="1024128"/>
            <a:ext cx="11338560" cy="0"/>
          </a:xfrm>
          <a:prstGeom prst="line">
            <a:avLst/>
          </a:prstGeom>
          <a:noFill/>
          <a:ln w="12700">
            <a:solidFill>
              <a:srgbClr val="C8D1DD"/>
            </a:solidFill>
            <a:prstDash val="solid"/>
          </a:ln>
        </p:spPr>
      </p:sp>
      <p:sp>
        <p:nvSpPr>
          <p:cNvPr id="5" name="Text 3"/>
          <p:cNvSpPr/>
          <p:nvPr/>
        </p:nvSpPr>
        <p:spPr>
          <a:xfrm>
            <a:off x="411480" y="6510528"/>
            <a:ext cx="6858000" cy="164592"/>
          </a:xfrm>
          <a:prstGeom prst="rect">
            <a:avLst/>
          </a:prstGeom>
          <a:noFill/>
          <a:ln/>
        </p:spPr>
        <p:txBody>
          <a:bodyPr wrap="square" lIns="0" tIns="0" rIns="0" bIns="0" rtlCol="0" anchor="ctr">
            <a:normAutofit/>
          </a:bodyPr>
          <a:lstStyle/>
          <a:p>
            <a:pPr marL="0" indent="0">
              <a:buNone/>
            </a:pPr>
            <a:r>
              <a:rPr lang="en-US" sz="780" dirty="0">
                <a:solidFill>
                  <a:srgbClr val="7A8796"/>
                </a:solidFill>
              </a:rPr>
              <a:t>Tools &amp; Techniques End-to-End Data Pipeline Capstone</a:t>
            </a:r>
            <a:endParaRPr lang="en-US" sz="780" dirty="0"/>
          </a:p>
        </p:txBody>
      </p:sp>
      <p:sp>
        <p:nvSpPr>
          <p:cNvPr id="6" name="Text 4"/>
          <p:cNvSpPr/>
          <p:nvPr/>
        </p:nvSpPr>
        <p:spPr>
          <a:xfrm>
            <a:off x="411480" y="1234440"/>
            <a:ext cx="11384280" cy="4434840"/>
          </a:xfrm>
          <a:prstGeom prst="rect">
            <a:avLst/>
          </a:prstGeom>
          <a:solidFill>
            <a:srgbClr val="F8FAFC"/>
          </a:solidFill>
          <a:ln w="10160">
            <a:solidFill>
              <a:srgbClr val="C8D1DD"/>
            </a:solidFill>
          </a:ln>
        </p:spPr>
        <p:txBody>
          <a:bodyPr wrap="square" lIns="1143" tIns="1143" rIns="1143" bIns="1143" rtlCol="0" anchor="t">
            <a:normAutofit/>
          </a:bodyPr>
          <a:lstStyle/>
          <a:p>
            <a:pPr marL="0" indent="0">
              <a:buNone/>
            </a:pPr>
            <a:endParaRPr lang="en-US" sz="820" dirty="0"/>
          </a:p>
        </p:txBody>
      </p:sp>
      <p:sp>
        <p:nvSpPr>
          <p:cNvPr id="25" name="Slide Number Placeholder 0"/>
          <p:cNvSpPr>
            <a:spLocks noGrp="1"/>
          </p:cNvSpPr>
          <p:nvPr>
            <p:ph type="sldNum" sz="quarter" idx="4294967295"/>
          </p:nvPr>
        </p:nvSpPr>
        <p:spPr>
          <a:xfrm>
            <a:off x="1120140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7A8796"/>
                </a:solidFill>
              </a:defRPr>
            </a:lvl1pPr>
          </a:lstStyle>
          <a:p>
            <a:pPr algn="l"/>
            <a:fld id="{F7021451-1387-4CA6-816F-3879F97B5CBC}" type="slidenum">
              <a:rPr lang="en-US" b="0"/>
              <a:t>11</a:t>
            </a:fld>
            <a:endParaRPr lang="en-US"/>
          </a:p>
        </p:txBody>
      </p:sp>
      <p:graphicFrame>
        <p:nvGraphicFramePr>
          <p:cNvPr id="8" name="Table 7">
            <a:extLst>
              <a:ext uri="{FF2B5EF4-FFF2-40B4-BE49-F238E27FC236}">
                <a16:creationId xmlns:a16="http://schemas.microsoft.com/office/drawing/2014/main" id="{4725E746-A2B1-9C37-6044-9B40A10F0475}"/>
              </a:ext>
            </a:extLst>
          </p:cNvPr>
          <p:cNvGraphicFramePr>
            <a:graphicFrameLocks noGrp="1"/>
          </p:cNvGraphicFramePr>
          <p:nvPr>
            <p:extLst>
              <p:ext uri="{D42A27DB-BD31-4B8C-83A1-F6EECF244321}">
                <p14:modId xmlns:p14="http://schemas.microsoft.com/office/powerpoint/2010/main" val="626194226"/>
              </p:ext>
            </p:extLst>
          </p:nvPr>
        </p:nvGraphicFramePr>
        <p:xfrm>
          <a:off x="785091" y="1390082"/>
          <a:ext cx="10160277" cy="3291840"/>
        </p:xfrm>
        <a:graphic>
          <a:graphicData uri="http://schemas.openxmlformats.org/drawingml/2006/table">
            <a:tbl>
              <a:tblPr/>
              <a:tblGrid>
                <a:gridCol w="3149877">
                  <a:extLst>
                    <a:ext uri="{9D8B030D-6E8A-4147-A177-3AD203B41FA5}">
                      <a16:colId xmlns:a16="http://schemas.microsoft.com/office/drawing/2014/main" val="4012839751"/>
                    </a:ext>
                  </a:extLst>
                </a:gridCol>
                <a:gridCol w="3505200">
                  <a:extLst>
                    <a:ext uri="{9D8B030D-6E8A-4147-A177-3AD203B41FA5}">
                      <a16:colId xmlns:a16="http://schemas.microsoft.com/office/drawing/2014/main" val="3923813247"/>
                    </a:ext>
                  </a:extLst>
                </a:gridCol>
                <a:gridCol w="3505200">
                  <a:extLst>
                    <a:ext uri="{9D8B030D-6E8A-4147-A177-3AD203B41FA5}">
                      <a16:colId xmlns:a16="http://schemas.microsoft.com/office/drawing/2014/main" val="23724552"/>
                    </a:ext>
                  </a:extLst>
                </a:gridCol>
              </a:tblGrid>
              <a:tr h="0">
                <a:tc>
                  <a:txBody>
                    <a:bodyPr/>
                    <a:lstStyle/>
                    <a:p>
                      <a:pPr>
                        <a:buNone/>
                      </a:pPr>
                      <a:r>
                        <a:rPr lang="en-PK" b="1" dirty="0"/>
                        <a:t>Tool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b="1" dirty="0"/>
                        <a:t>Used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b="1" dirty="0"/>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65043078"/>
                  </a:ext>
                </a:extLst>
              </a:tr>
              <a:tr h="0">
                <a:tc>
                  <a:txBody>
                    <a:bodyPr/>
                    <a:lstStyle/>
                    <a:p>
                      <a:pPr>
                        <a:buNone/>
                      </a:pPr>
                      <a:r>
                        <a:rPr lang="en-PK" dirty="0"/>
                        <a:t>GitHub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Version Control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578135"/>
                  </a:ext>
                </a:extLst>
              </a:tr>
              <a:tr h="0">
                <a:tc>
                  <a:txBody>
                    <a:bodyPr/>
                    <a:lstStyle/>
                    <a:p>
                      <a:pPr>
                        <a:buNone/>
                      </a:pPr>
                      <a:r>
                        <a:rPr lang="en-PK" dirty="0"/>
                        <a:t>Selenium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Scraping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2031626"/>
                  </a:ext>
                </a:extLst>
              </a:tr>
              <a:tr h="0">
                <a:tc>
                  <a:txBody>
                    <a:bodyPr/>
                    <a:lstStyle/>
                    <a:p>
                      <a:pPr>
                        <a:buNone/>
                      </a:pPr>
                      <a:r>
                        <a:rPr lang="en-PK" dirty="0"/>
                        <a:t>CSV/JSON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Data Storage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0987262"/>
                  </a:ext>
                </a:extLst>
              </a:tr>
              <a:tr h="0">
                <a:tc>
                  <a:txBody>
                    <a:bodyPr/>
                    <a:lstStyle/>
                    <a:p>
                      <a:pPr>
                        <a:buNone/>
                      </a:pPr>
                      <a:r>
                        <a:rPr lang="en-PK" dirty="0"/>
                        <a:t>KNIME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ETL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20852793"/>
                  </a:ext>
                </a:extLst>
              </a:tr>
              <a:tr h="0">
                <a:tc>
                  <a:txBody>
                    <a:bodyPr/>
                    <a:lstStyle/>
                    <a:p>
                      <a:pPr>
                        <a:buNone/>
                      </a:pPr>
                      <a:r>
                        <a:rPr lang="en-PK" dirty="0"/>
                        <a:t>Airflow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Scheduling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30187878"/>
                  </a:ext>
                </a:extLst>
              </a:tr>
              <a:tr h="0">
                <a:tc>
                  <a:txBody>
                    <a:bodyPr/>
                    <a:lstStyle/>
                    <a:p>
                      <a:pPr>
                        <a:buNone/>
                      </a:pPr>
                      <a:r>
                        <a:rPr lang="en-PK" dirty="0"/>
                        <a:t>n8n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Alerts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31603699"/>
                  </a:ext>
                </a:extLst>
              </a:tr>
              <a:tr h="0">
                <a:tc>
                  <a:txBody>
                    <a:bodyPr/>
                    <a:lstStyle/>
                    <a:p>
                      <a:pPr>
                        <a:buNone/>
                      </a:pPr>
                      <a:r>
                        <a:rPr lang="en-PK" dirty="0"/>
                        <a:t>Docker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Deployment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42389597"/>
                  </a:ext>
                </a:extLst>
              </a:tr>
              <a:tr h="0">
                <a:tc>
                  <a:txBody>
                    <a:bodyPr/>
                    <a:lstStyle/>
                    <a:p>
                      <a:pPr>
                        <a:buNone/>
                      </a:pPr>
                      <a:r>
                        <a:rPr lang="en-PK" dirty="0" err="1"/>
                        <a:t>Streamlit</a:t>
                      </a:r>
                      <a:endParaRPr lang="en-PK"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Dashboard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2192880"/>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11480" y="256032"/>
            <a:ext cx="11338560" cy="411480"/>
          </a:xfrm>
          <a:prstGeom prst="rect">
            <a:avLst/>
          </a:prstGeom>
          <a:noFill/>
          <a:ln/>
        </p:spPr>
        <p:txBody>
          <a:bodyPr wrap="square" lIns="0" tIns="0" rIns="0" bIns="0" rtlCol="0" anchor="ctr">
            <a:normAutofit/>
          </a:bodyPr>
          <a:lstStyle/>
          <a:p>
            <a:pPr marL="0" indent="0">
              <a:buNone/>
            </a:pPr>
            <a:r>
              <a:rPr lang="en-US" sz="2500" b="1" dirty="0">
                <a:solidFill>
                  <a:srgbClr val="073B72"/>
                </a:solidFill>
                <a:latin typeface="Aptos Display" pitchFamily="34" charset="0"/>
                <a:ea typeface="Aptos Display" pitchFamily="34" charset="-122"/>
                <a:cs typeface="Aptos Display" pitchFamily="34" charset="-120"/>
              </a:rPr>
              <a:t>10. Complete Project Architecture</a:t>
            </a:r>
            <a:endParaRPr lang="en-US" sz="2500" dirty="0"/>
          </a:p>
        </p:txBody>
      </p:sp>
      <p:sp>
        <p:nvSpPr>
          <p:cNvPr id="3" name="Text 1"/>
          <p:cNvSpPr/>
          <p:nvPr/>
        </p:nvSpPr>
        <p:spPr>
          <a:xfrm>
            <a:off x="429768" y="713232"/>
            <a:ext cx="11247120" cy="256032"/>
          </a:xfrm>
          <a:prstGeom prst="rect">
            <a:avLst/>
          </a:prstGeom>
          <a:noFill/>
          <a:ln/>
        </p:spPr>
        <p:txBody>
          <a:bodyPr wrap="square" lIns="0" tIns="0" rIns="0" bIns="0" rtlCol="0" anchor="ctr">
            <a:normAutofit/>
          </a:bodyPr>
          <a:lstStyle/>
          <a:p>
            <a:pPr marL="0" indent="0">
              <a:buNone/>
            </a:pPr>
            <a:r>
              <a:rPr lang="en-US" sz="1150" dirty="0">
                <a:solidFill>
                  <a:srgbClr val="56606B"/>
                </a:solidFill>
              </a:rPr>
              <a:t>Replace the placeholder with your actual architecture diagram.</a:t>
            </a:r>
            <a:endParaRPr lang="en-US" sz="1150" dirty="0"/>
          </a:p>
        </p:txBody>
      </p:sp>
      <p:sp>
        <p:nvSpPr>
          <p:cNvPr id="4" name="Shape 2"/>
          <p:cNvSpPr/>
          <p:nvPr/>
        </p:nvSpPr>
        <p:spPr>
          <a:xfrm>
            <a:off x="411480" y="1024128"/>
            <a:ext cx="11338560" cy="0"/>
          </a:xfrm>
          <a:prstGeom prst="line">
            <a:avLst/>
          </a:prstGeom>
          <a:noFill/>
          <a:ln w="12700">
            <a:solidFill>
              <a:srgbClr val="C8D1DD"/>
            </a:solidFill>
            <a:prstDash val="solid"/>
          </a:ln>
        </p:spPr>
      </p:sp>
      <p:sp>
        <p:nvSpPr>
          <p:cNvPr id="5" name="Text 3"/>
          <p:cNvSpPr/>
          <p:nvPr/>
        </p:nvSpPr>
        <p:spPr>
          <a:xfrm>
            <a:off x="411480" y="6510528"/>
            <a:ext cx="6858000" cy="164592"/>
          </a:xfrm>
          <a:prstGeom prst="rect">
            <a:avLst/>
          </a:prstGeom>
          <a:noFill/>
          <a:ln/>
        </p:spPr>
        <p:txBody>
          <a:bodyPr wrap="square" lIns="0" tIns="0" rIns="0" bIns="0" rtlCol="0" anchor="ctr">
            <a:normAutofit/>
          </a:bodyPr>
          <a:lstStyle/>
          <a:p>
            <a:pPr marL="0" indent="0">
              <a:buNone/>
            </a:pPr>
            <a:r>
              <a:rPr lang="en-US" sz="780" dirty="0">
                <a:solidFill>
                  <a:srgbClr val="7A8796"/>
                </a:solidFill>
              </a:rPr>
              <a:t>Tools &amp; Techniques End-to-End Data Pipeline Capstone</a:t>
            </a:r>
            <a:endParaRPr lang="en-US" sz="780" dirty="0"/>
          </a:p>
        </p:txBody>
      </p:sp>
      <p:sp>
        <p:nvSpPr>
          <p:cNvPr id="6" name="Text 4"/>
          <p:cNvSpPr/>
          <p:nvPr/>
        </p:nvSpPr>
        <p:spPr>
          <a:xfrm>
            <a:off x="685800" y="1325879"/>
            <a:ext cx="10835640" cy="3735647"/>
          </a:xfrm>
          <a:prstGeom prst="rect">
            <a:avLst/>
          </a:prstGeom>
          <a:solidFill>
            <a:srgbClr val="F4F6F8"/>
          </a:solidFill>
          <a:ln w="10160">
            <a:solidFill>
              <a:srgbClr val="C8D1DD"/>
            </a:solidFill>
          </a:ln>
        </p:spPr>
        <p:txBody>
          <a:bodyPr wrap="square" lIns="1524" tIns="1524" rIns="1524" bIns="1524" rtlCol="0" anchor="t">
            <a:normAutofit/>
          </a:bodyPr>
          <a:lstStyle/>
          <a:p>
            <a:r>
              <a:rPr lang="en-US" sz="1450" b="1" dirty="0">
                <a:solidFill>
                  <a:srgbClr val="073B72"/>
                </a:solidFill>
              </a:rPr>
              <a:t>Architecture Diagram Placeholder
</a:t>
            </a:r>
            <a:r>
              <a:rPr lang="en-PK" sz="1600" dirty="0"/>
              <a:t>Flow:</a:t>
            </a:r>
          </a:p>
          <a:p>
            <a:r>
              <a:rPr lang="en-PK" sz="1600" dirty="0"/>
              <a:t>News Sources</a:t>
            </a:r>
            <a:br>
              <a:rPr lang="en-PK" sz="1600" dirty="0"/>
            </a:br>
            <a:r>
              <a:rPr lang="en-PK" sz="1600" dirty="0"/>
              <a:t>→ Scrapers</a:t>
            </a:r>
            <a:br>
              <a:rPr lang="en-PK" sz="1600" dirty="0"/>
            </a:br>
            <a:r>
              <a:rPr lang="en-PK" sz="1600" dirty="0"/>
              <a:t>→ Raw JSON</a:t>
            </a:r>
            <a:br>
              <a:rPr lang="en-PK" sz="1600" dirty="0"/>
            </a:br>
            <a:r>
              <a:rPr lang="en-PK" sz="1600" dirty="0"/>
              <a:t>→ NLP Processing</a:t>
            </a:r>
            <a:br>
              <a:rPr lang="en-PK" sz="1600" dirty="0"/>
            </a:br>
            <a:r>
              <a:rPr lang="en-PK" sz="1600" dirty="0"/>
              <a:t>→ Extracted CSV</a:t>
            </a:r>
            <a:br>
              <a:rPr lang="en-PK" sz="1600" dirty="0"/>
            </a:br>
            <a:r>
              <a:rPr lang="en-PK" sz="1600" dirty="0"/>
              <a:t>→ KNIME ETL</a:t>
            </a:r>
            <a:br>
              <a:rPr lang="en-PK" sz="1600" dirty="0"/>
            </a:br>
            <a:r>
              <a:rPr lang="en-PK" sz="1600" dirty="0"/>
              <a:t>→ Cleaned CSV</a:t>
            </a:r>
            <a:br>
              <a:rPr lang="en-PK" sz="1600" dirty="0"/>
            </a:br>
            <a:r>
              <a:rPr lang="en-PK" sz="1600" dirty="0"/>
              <a:t>→ Airflow</a:t>
            </a:r>
            <a:br>
              <a:rPr lang="en-PK" sz="1600" dirty="0"/>
            </a:br>
            <a:r>
              <a:rPr lang="en-PK" sz="1600" dirty="0"/>
              <a:t>→ n8n</a:t>
            </a:r>
            <a:br>
              <a:rPr lang="en-PK" sz="1600" dirty="0"/>
            </a:br>
            <a:r>
              <a:rPr lang="en-PK" sz="1600" dirty="0"/>
              <a:t>→ </a:t>
            </a:r>
            <a:r>
              <a:rPr lang="en-PK" sz="1600" dirty="0" err="1"/>
              <a:t>Streamlit</a:t>
            </a:r>
            <a:r>
              <a:rPr lang="en-PK" sz="1600" dirty="0"/>
              <a:t> Dashboard</a:t>
            </a:r>
            <a:br>
              <a:rPr lang="en-PK" sz="1600" dirty="0"/>
            </a:br>
            <a:r>
              <a:rPr lang="en-PK" sz="1600" dirty="0"/>
              <a:t>→ Docker Deployment</a:t>
            </a:r>
          </a:p>
          <a:p>
            <a:pPr marL="0" indent="0">
              <a:buNone/>
            </a:pPr>
            <a:endParaRPr lang="en-US" sz="1450" dirty="0"/>
          </a:p>
        </p:txBody>
      </p:sp>
      <p:sp>
        <p:nvSpPr>
          <p:cNvPr id="25" name="Slide Number Placeholder 0"/>
          <p:cNvSpPr>
            <a:spLocks noGrp="1"/>
          </p:cNvSpPr>
          <p:nvPr>
            <p:ph type="sldNum" sz="quarter" idx="4294967295"/>
          </p:nvPr>
        </p:nvSpPr>
        <p:spPr>
          <a:xfrm>
            <a:off x="1120140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7A8796"/>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11480" y="256032"/>
            <a:ext cx="11338560" cy="411480"/>
          </a:xfrm>
          <a:prstGeom prst="rect">
            <a:avLst/>
          </a:prstGeom>
          <a:noFill/>
          <a:ln/>
        </p:spPr>
        <p:txBody>
          <a:bodyPr wrap="square" lIns="0" tIns="0" rIns="0" bIns="0" rtlCol="0" anchor="ctr">
            <a:normAutofit/>
          </a:bodyPr>
          <a:lstStyle/>
          <a:p>
            <a:pPr marL="0" indent="0">
              <a:buNone/>
            </a:pPr>
            <a:r>
              <a:rPr lang="en-US" sz="2500" b="1" dirty="0">
                <a:solidFill>
                  <a:srgbClr val="073B72"/>
                </a:solidFill>
                <a:latin typeface="Aptos Display" pitchFamily="34" charset="0"/>
                <a:ea typeface="Aptos Display" pitchFamily="34" charset="-122"/>
                <a:cs typeface="Aptos Display" pitchFamily="34" charset="-120"/>
              </a:rPr>
              <a:t>11. Data Collection</a:t>
            </a:r>
            <a:endParaRPr lang="en-US" sz="2500" dirty="0"/>
          </a:p>
        </p:txBody>
      </p:sp>
      <p:sp>
        <p:nvSpPr>
          <p:cNvPr id="4" name="Shape 2"/>
          <p:cNvSpPr/>
          <p:nvPr/>
        </p:nvSpPr>
        <p:spPr>
          <a:xfrm>
            <a:off x="411480" y="1024128"/>
            <a:ext cx="11338560" cy="0"/>
          </a:xfrm>
          <a:prstGeom prst="line">
            <a:avLst/>
          </a:prstGeom>
          <a:noFill/>
          <a:ln w="12700">
            <a:solidFill>
              <a:srgbClr val="C8D1DD"/>
            </a:solidFill>
            <a:prstDash val="solid"/>
          </a:ln>
        </p:spPr>
      </p:sp>
      <p:sp>
        <p:nvSpPr>
          <p:cNvPr id="5" name="Text 3"/>
          <p:cNvSpPr/>
          <p:nvPr/>
        </p:nvSpPr>
        <p:spPr>
          <a:xfrm>
            <a:off x="411480" y="6510528"/>
            <a:ext cx="6858000" cy="164592"/>
          </a:xfrm>
          <a:prstGeom prst="rect">
            <a:avLst/>
          </a:prstGeom>
          <a:noFill/>
          <a:ln/>
        </p:spPr>
        <p:txBody>
          <a:bodyPr wrap="square" lIns="0" tIns="0" rIns="0" bIns="0" rtlCol="0" anchor="ctr">
            <a:normAutofit/>
          </a:bodyPr>
          <a:lstStyle/>
          <a:p>
            <a:pPr marL="0" indent="0">
              <a:buNone/>
            </a:pPr>
            <a:r>
              <a:rPr lang="en-US" sz="780" dirty="0">
                <a:solidFill>
                  <a:srgbClr val="7A8796"/>
                </a:solidFill>
              </a:rPr>
              <a:t>Tools &amp; Techniques End-to-End Data Pipeline Capstone</a:t>
            </a:r>
            <a:endParaRPr lang="en-US" sz="780" dirty="0"/>
          </a:p>
        </p:txBody>
      </p:sp>
      <p:sp>
        <p:nvSpPr>
          <p:cNvPr id="6" name="Text 4"/>
          <p:cNvSpPr/>
          <p:nvPr/>
        </p:nvSpPr>
        <p:spPr>
          <a:xfrm>
            <a:off x="830580" y="1344167"/>
            <a:ext cx="10530840" cy="1463041"/>
          </a:xfrm>
          <a:prstGeom prst="rect">
            <a:avLst/>
          </a:prstGeom>
          <a:solidFill>
            <a:srgbClr val="F8FAFC"/>
          </a:solidFill>
          <a:ln w="10160">
            <a:solidFill>
              <a:srgbClr val="C8D1DD"/>
            </a:solidFill>
          </a:ln>
        </p:spPr>
        <p:txBody>
          <a:bodyPr wrap="square" lIns="1143" tIns="1143" rIns="1143" bIns="1143" rtlCol="0" anchor="t">
            <a:normAutofit/>
          </a:bodyPr>
          <a:lstStyle/>
          <a:p>
            <a:pPr marL="0" indent="0">
              <a:buNone/>
            </a:pPr>
            <a:endParaRPr lang="en-US" sz="880" dirty="0"/>
          </a:p>
        </p:txBody>
      </p:sp>
      <p:sp>
        <p:nvSpPr>
          <p:cNvPr id="7" name="Text 5"/>
          <p:cNvSpPr/>
          <p:nvPr/>
        </p:nvSpPr>
        <p:spPr>
          <a:xfrm>
            <a:off x="685800" y="3071874"/>
            <a:ext cx="5257800" cy="1749508"/>
          </a:xfrm>
          <a:prstGeom prst="rect">
            <a:avLst/>
          </a:prstGeom>
          <a:solidFill>
            <a:srgbClr val="F0F9FF"/>
          </a:solidFill>
          <a:ln w="10160">
            <a:solidFill>
              <a:srgbClr val="C8D1DD"/>
            </a:solidFill>
          </a:ln>
        </p:spPr>
        <p:txBody>
          <a:bodyPr wrap="square" lIns="1524" tIns="1524" rIns="1524" bIns="1524" rtlCol="0" anchor="t">
            <a:normAutofit/>
          </a:bodyPr>
          <a:lstStyle/>
          <a:p>
            <a:pPr marL="0" indent="0">
              <a:buNone/>
            </a:pPr>
            <a:r>
              <a:rPr lang="en-US" sz="1450" b="1" dirty="0">
                <a:solidFill>
                  <a:srgbClr val="073B72"/>
                </a:solidFill>
              </a:rPr>
              <a:t>Raw Data Proof
</a:t>
            </a:r>
            <a:endParaRPr lang="en-US" sz="1450" dirty="0"/>
          </a:p>
        </p:txBody>
      </p:sp>
      <p:sp>
        <p:nvSpPr>
          <p:cNvPr id="8" name="Text 6"/>
          <p:cNvSpPr/>
          <p:nvPr/>
        </p:nvSpPr>
        <p:spPr>
          <a:xfrm>
            <a:off x="6248400" y="3297878"/>
            <a:ext cx="5257800" cy="1297499"/>
          </a:xfrm>
          <a:prstGeom prst="rect">
            <a:avLst/>
          </a:prstGeom>
          <a:solidFill>
            <a:srgbClr val="FFF7E6"/>
          </a:solidFill>
          <a:ln w="10160">
            <a:solidFill>
              <a:srgbClr val="C8D1DD"/>
            </a:solidFill>
          </a:ln>
        </p:spPr>
        <p:txBody>
          <a:bodyPr wrap="square" lIns="1524" tIns="1524" rIns="1524" bIns="1524" rtlCol="0" anchor="t">
            <a:normAutofit/>
          </a:bodyPr>
          <a:lstStyle/>
          <a:p>
            <a:r>
              <a:rPr lang="en-US" sz="1450" b="1" dirty="0">
                <a:solidFill>
                  <a:srgbClr val="073B72"/>
                </a:solidFill>
              </a:rPr>
              <a:t>Collection Issues
</a:t>
            </a:r>
            <a:r>
              <a:rPr lang="en-PK" sz="1600" dirty="0"/>
              <a:t>Dynamic loading </a:t>
            </a:r>
            <a:endParaRPr lang="en-GB" sz="1600" dirty="0"/>
          </a:p>
          <a:p>
            <a:r>
              <a:rPr lang="en-PK" sz="1600" dirty="0"/>
              <a:t>Rate limiting </a:t>
            </a:r>
            <a:endParaRPr lang="en-GB" sz="1600" dirty="0"/>
          </a:p>
          <a:p>
            <a:r>
              <a:rPr lang="en-PK" sz="1600" dirty="0"/>
              <a:t>Different HTML structures</a:t>
            </a:r>
            <a:endParaRPr lang="en-US" sz="1450" dirty="0"/>
          </a:p>
        </p:txBody>
      </p:sp>
      <p:sp>
        <p:nvSpPr>
          <p:cNvPr id="25" name="Slide Number Placeholder 0"/>
          <p:cNvSpPr>
            <a:spLocks noGrp="1"/>
          </p:cNvSpPr>
          <p:nvPr>
            <p:ph type="sldNum" sz="quarter" idx="4294967295"/>
          </p:nvPr>
        </p:nvSpPr>
        <p:spPr>
          <a:xfrm>
            <a:off x="1120140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7A8796"/>
                </a:solidFill>
              </a:defRPr>
            </a:lvl1pPr>
          </a:lstStyle>
          <a:p>
            <a:pPr algn="l"/>
            <a:fld id="{F7021451-1387-4CA6-816F-3879F97B5CBC}" type="slidenum">
              <a:rPr lang="en-US" b="0"/>
              <a:t>13</a:t>
            </a:fld>
            <a:endParaRPr lang="en-US"/>
          </a:p>
        </p:txBody>
      </p:sp>
      <p:graphicFrame>
        <p:nvGraphicFramePr>
          <p:cNvPr id="10" name="Table 9">
            <a:extLst>
              <a:ext uri="{FF2B5EF4-FFF2-40B4-BE49-F238E27FC236}">
                <a16:creationId xmlns:a16="http://schemas.microsoft.com/office/drawing/2014/main" id="{00FB1420-721F-D390-DD46-26435DA27864}"/>
              </a:ext>
            </a:extLst>
          </p:cNvPr>
          <p:cNvGraphicFramePr>
            <a:graphicFrameLocks noGrp="1"/>
          </p:cNvGraphicFramePr>
          <p:nvPr>
            <p:extLst>
              <p:ext uri="{D42A27DB-BD31-4B8C-83A1-F6EECF244321}">
                <p14:modId xmlns:p14="http://schemas.microsoft.com/office/powerpoint/2010/main" val="3177730023"/>
              </p:ext>
            </p:extLst>
          </p:nvPr>
        </p:nvGraphicFramePr>
        <p:xfrm>
          <a:off x="845820" y="1344169"/>
          <a:ext cx="10515600" cy="1463040"/>
        </p:xfrm>
        <a:graphic>
          <a:graphicData uri="http://schemas.openxmlformats.org/drawingml/2006/table">
            <a:tbl>
              <a:tblPr/>
              <a:tblGrid>
                <a:gridCol w="3505200">
                  <a:extLst>
                    <a:ext uri="{9D8B030D-6E8A-4147-A177-3AD203B41FA5}">
                      <a16:colId xmlns:a16="http://schemas.microsoft.com/office/drawing/2014/main" val="1698211754"/>
                    </a:ext>
                  </a:extLst>
                </a:gridCol>
                <a:gridCol w="3505200">
                  <a:extLst>
                    <a:ext uri="{9D8B030D-6E8A-4147-A177-3AD203B41FA5}">
                      <a16:colId xmlns:a16="http://schemas.microsoft.com/office/drawing/2014/main" val="2194016370"/>
                    </a:ext>
                  </a:extLst>
                </a:gridCol>
                <a:gridCol w="3505200">
                  <a:extLst>
                    <a:ext uri="{9D8B030D-6E8A-4147-A177-3AD203B41FA5}">
                      <a16:colId xmlns:a16="http://schemas.microsoft.com/office/drawing/2014/main" val="3494557368"/>
                    </a:ext>
                  </a:extLst>
                </a:gridCol>
              </a:tblGrid>
              <a:tr h="0">
                <a:tc>
                  <a:txBody>
                    <a:bodyPr/>
                    <a:lstStyle/>
                    <a:p>
                      <a:pPr>
                        <a:buNone/>
                      </a:pPr>
                      <a:r>
                        <a:rPr lang="en-PK" b="1" dirty="0"/>
                        <a:t>Source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b="1"/>
                        <a:t>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b="1" dirty="0"/>
                        <a:t>Records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3768591"/>
                  </a:ext>
                </a:extLst>
              </a:tr>
              <a:tr h="0">
                <a:tc>
                  <a:txBody>
                    <a:bodyPr/>
                    <a:lstStyle/>
                    <a:p>
                      <a:pPr>
                        <a:buNone/>
                      </a:pPr>
                      <a:r>
                        <a:rPr lang="en-PK"/>
                        <a:t>Dawn.pk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Scraping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80949146"/>
                  </a:ext>
                </a:extLst>
              </a:tr>
              <a:tr h="0">
                <a:tc>
                  <a:txBody>
                    <a:bodyPr/>
                    <a:lstStyle/>
                    <a:p>
                      <a:pPr>
                        <a:buNone/>
                      </a:pPr>
                      <a:r>
                        <a:rPr lang="en-PK"/>
                        <a:t>Geo.tv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Scraping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111369"/>
                  </a:ext>
                </a:extLst>
              </a:tr>
              <a:tr h="0">
                <a:tc>
                  <a:txBody>
                    <a:bodyPr/>
                    <a:lstStyle/>
                    <a:p>
                      <a:pPr>
                        <a:buNone/>
                      </a:pPr>
                      <a:r>
                        <a:rPr lang="en-PK"/>
                        <a:t>Express Tribune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Scraping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4829360"/>
                  </a:ext>
                </a:extLst>
              </a:tr>
            </a:tbl>
          </a:graphicData>
        </a:graphic>
      </p:graphicFrame>
      <p:pic>
        <p:nvPicPr>
          <p:cNvPr id="12" name="Picture 11">
            <a:extLst>
              <a:ext uri="{FF2B5EF4-FFF2-40B4-BE49-F238E27FC236}">
                <a16:creationId xmlns:a16="http://schemas.microsoft.com/office/drawing/2014/main" id="{9A50EA3A-E57F-2E92-C1D5-BED08EDFC4AC}"/>
              </a:ext>
            </a:extLst>
          </p:cNvPr>
          <p:cNvPicPr>
            <a:picLocks noChangeAspect="1"/>
          </p:cNvPicPr>
          <p:nvPr/>
        </p:nvPicPr>
        <p:blipFill>
          <a:blip r:embed="rId3"/>
          <a:stretch>
            <a:fillRect/>
          </a:stretch>
        </p:blipFill>
        <p:spPr>
          <a:xfrm>
            <a:off x="685800" y="3317672"/>
            <a:ext cx="5257800" cy="138363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11480" y="256032"/>
            <a:ext cx="11338560" cy="411480"/>
          </a:xfrm>
          <a:prstGeom prst="rect">
            <a:avLst/>
          </a:prstGeom>
          <a:noFill/>
          <a:ln/>
        </p:spPr>
        <p:txBody>
          <a:bodyPr wrap="square" lIns="0" tIns="0" rIns="0" bIns="0" rtlCol="0" anchor="ctr">
            <a:normAutofit/>
          </a:bodyPr>
          <a:lstStyle/>
          <a:p>
            <a:pPr marL="0" indent="0">
              <a:buNone/>
            </a:pPr>
            <a:r>
              <a:rPr lang="en-US" sz="2500" b="1" dirty="0">
                <a:solidFill>
                  <a:srgbClr val="073B72"/>
                </a:solidFill>
                <a:latin typeface="Aptos Display" pitchFamily="34" charset="0"/>
                <a:ea typeface="Aptos Display" pitchFamily="34" charset="-122"/>
                <a:cs typeface="Aptos Display" pitchFamily="34" charset="-120"/>
              </a:rPr>
              <a:t>12. Raw vs Processed Data Summary</a:t>
            </a:r>
            <a:endParaRPr lang="en-US" sz="2500" dirty="0"/>
          </a:p>
        </p:txBody>
      </p:sp>
      <p:sp>
        <p:nvSpPr>
          <p:cNvPr id="3" name="Text 1"/>
          <p:cNvSpPr/>
          <p:nvPr/>
        </p:nvSpPr>
        <p:spPr>
          <a:xfrm>
            <a:off x="429768" y="713232"/>
            <a:ext cx="11247120" cy="256032"/>
          </a:xfrm>
          <a:prstGeom prst="rect">
            <a:avLst/>
          </a:prstGeom>
          <a:noFill/>
          <a:ln/>
        </p:spPr>
        <p:txBody>
          <a:bodyPr wrap="square" lIns="0" tIns="0" rIns="0" bIns="0" rtlCol="0" anchor="ctr">
            <a:normAutofit/>
          </a:bodyPr>
          <a:lstStyle/>
          <a:p>
            <a:pPr marL="0" indent="0">
              <a:buNone/>
            </a:pPr>
            <a:r>
              <a:rPr lang="en-US" sz="1150" dirty="0">
                <a:solidFill>
                  <a:srgbClr val="56606B"/>
                </a:solidFill>
              </a:rPr>
              <a:t>Show that data changed through your pipeline.</a:t>
            </a:r>
            <a:endParaRPr lang="en-US" sz="1150" dirty="0"/>
          </a:p>
        </p:txBody>
      </p:sp>
      <p:sp>
        <p:nvSpPr>
          <p:cNvPr id="4" name="Shape 2"/>
          <p:cNvSpPr/>
          <p:nvPr/>
        </p:nvSpPr>
        <p:spPr>
          <a:xfrm>
            <a:off x="411480" y="1024128"/>
            <a:ext cx="11338560" cy="0"/>
          </a:xfrm>
          <a:prstGeom prst="line">
            <a:avLst/>
          </a:prstGeom>
          <a:noFill/>
          <a:ln w="12700">
            <a:solidFill>
              <a:srgbClr val="C8D1DD"/>
            </a:solidFill>
            <a:prstDash val="solid"/>
          </a:ln>
        </p:spPr>
      </p:sp>
      <p:sp>
        <p:nvSpPr>
          <p:cNvPr id="5" name="Text 3"/>
          <p:cNvSpPr/>
          <p:nvPr/>
        </p:nvSpPr>
        <p:spPr>
          <a:xfrm>
            <a:off x="411480" y="6510528"/>
            <a:ext cx="6858000" cy="164592"/>
          </a:xfrm>
          <a:prstGeom prst="rect">
            <a:avLst/>
          </a:prstGeom>
          <a:noFill/>
          <a:ln/>
        </p:spPr>
        <p:txBody>
          <a:bodyPr wrap="square" lIns="0" tIns="0" rIns="0" bIns="0" rtlCol="0" anchor="ctr">
            <a:normAutofit/>
          </a:bodyPr>
          <a:lstStyle/>
          <a:p>
            <a:pPr marL="0" indent="0">
              <a:buNone/>
            </a:pPr>
            <a:r>
              <a:rPr lang="en-US" sz="780" dirty="0">
                <a:solidFill>
                  <a:srgbClr val="7A8796"/>
                </a:solidFill>
              </a:rPr>
              <a:t>Tools &amp; Techniques End-to-End Data Pipeline Capstone</a:t>
            </a:r>
            <a:endParaRPr lang="en-US" sz="780" dirty="0"/>
          </a:p>
        </p:txBody>
      </p:sp>
      <p:sp>
        <p:nvSpPr>
          <p:cNvPr id="6" name="Text 4"/>
          <p:cNvSpPr/>
          <p:nvPr/>
        </p:nvSpPr>
        <p:spPr>
          <a:xfrm>
            <a:off x="701039" y="1325880"/>
            <a:ext cx="10789921" cy="2627284"/>
          </a:xfrm>
          <a:prstGeom prst="rect">
            <a:avLst/>
          </a:prstGeom>
          <a:solidFill>
            <a:srgbClr val="F8FAFC"/>
          </a:solidFill>
          <a:ln w="10160">
            <a:solidFill>
              <a:srgbClr val="C8D1DD"/>
            </a:solidFill>
          </a:ln>
        </p:spPr>
        <p:txBody>
          <a:bodyPr wrap="square" lIns="1143" tIns="1143" rIns="1143" bIns="1143" rtlCol="0" anchor="t">
            <a:normAutofit/>
          </a:bodyPr>
          <a:lstStyle/>
          <a:p>
            <a:pPr marL="0" indent="0">
              <a:buNone/>
            </a:pPr>
            <a:endParaRPr lang="en-US" sz="930" dirty="0"/>
          </a:p>
        </p:txBody>
      </p:sp>
      <p:sp>
        <p:nvSpPr>
          <p:cNvPr id="7" name="Text 5"/>
          <p:cNvSpPr/>
          <p:nvPr/>
        </p:nvSpPr>
        <p:spPr>
          <a:xfrm>
            <a:off x="658368" y="4658913"/>
            <a:ext cx="10789920" cy="640080"/>
          </a:xfrm>
          <a:prstGeom prst="rect">
            <a:avLst/>
          </a:prstGeom>
          <a:solidFill>
            <a:srgbClr val="F4F6F8"/>
          </a:solidFill>
          <a:ln w="10160">
            <a:solidFill>
              <a:srgbClr val="C8D1DD"/>
            </a:solidFill>
          </a:ln>
        </p:spPr>
        <p:txBody>
          <a:bodyPr wrap="square" lIns="1524" tIns="1524" rIns="1524" bIns="1524" rtlCol="0" anchor="t">
            <a:normAutofit/>
          </a:bodyPr>
          <a:lstStyle/>
          <a:p>
            <a:r>
              <a:rPr lang="en-US" sz="1450" b="1" dirty="0">
                <a:solidFill>
                  <a:srgbClr val="073B72"/>
                </a:solidFill>
              </a:rPr>
              <a:t>Data Dictionary
</a:t>
            </a:r>
            <a:r>
              <a:rPr lang="en-PK" sz="1600" dirty="0"/>
              <a:t>city</a:t>
            </a:r>
            <a:r>
              <a:rPr lang="en-GB" sz="1600" dirty="0"/>
              <a:t>, </a:t>
            </a:r>
            <a:r>
              <a:rPr lang="en-PK" sz="1600" dirty="0" err="1"/>
              <a:t>crime_type</a:t>
            </a:r>
            <a:r>
              <a:rPr lang="en-GB" sz="1600" dirty="0"/>
              <a:t>,</a:t>
            </a:r>
            <a:r>
              <a:rPr lang="en-PK" sz="1600" dirty="0"/>
              <a:t> severity</a:t>
            </a:r>
            <a:r>
              <a:rPr lang="en-GB" sz="1600" dirty="0"/>
              <a:t>,</a:t>
            </a:r>
            <a:r>
              <a:rPr lang="en-PK" sz="1600" dirty="0"/>
              <a:t> source</a:t>
            </a:r>
            <a:r>
              <a:rPr lang="en-GB" sz="1600" dirty="0"/>
              <a:t>,</a:t>
            </a:r>
            <a:r>
              <a:rPr lang="en-PK" sz="1600" dirty="0"/>
              <a:t> headline</a:t>
            </a:r>
            <a:r>
              <a:rPr lang="en-GB" sz="1600" dirty="0"/>
              <a:t>,</a:t>
            </a:r>
            <a:r>
              <a:rPr lang="en-PK" sz="1600" dirty="0"/>
              <a:t> latitude</a:t>
            </a:r>
            <a:r>
              <a:rPr lang="en-GB" sz="1600" dirty="0"/>
              <a:t>,</a:t>
            </a:r>
            <a:r>
              <a:rPr lang="en-PK" sz="1600" dirty="0"/>
              <a:t> longitude</a:t>
            </a:r>
            <a:r>
              <a:rPr lang="en-GB" sz="1600" dirty="0"/>
              <a:t>,</a:t>
            </a:r>
            <a:r>
              <a:rPr lang="en-PK" sz="1600" dirty="0"/>
              <a:t> date</a:t>
            </a:r>
            <a:endParaRPr lang="en-US" sz="1450" dirty="0"/>
          </a:p>
        </p:txBody>
      </p:sp>
      <p:sp>
        <p:nvSpPr>
          <p:cNvPr id="25" name="Slide Number Placeholder 0"/>
          <p:cNvSpPr>
            <a:spLocks noGrp="1"/>
          </p:cNvSpPr>
          <p:nvPr>
            <p:ph type="sldNum" sz="quarter" idx="4294967295"/>
          </p:nvPr>
        </p:nvSpPr>
        <p:spPr>
          <a:xfrm>
            <a:off x="1120140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7A8796"/>
                </a:solidFill>
              </a:defRPr>
            </a:lvl1pPr>
          </a:lstStyle>
          <a:p>
            <a:pPr algn="l"/>
            <a:fld id="{F7021451-1387-4CA6-816F-3879F97B5CBC}" type="slidenum">
              <a:rPr lang="en-US" b="0"/>
              <a:t>14</a:t>
            </a:fld>
            <a:endParaRPr lang="en-US"/>
          </a:p>
        </p:txBody>
      </p:sp>
      <p:graphicFrame>
        <p:nvGraphicFramePr>
          <p:cNvPr id="9" name="Table 8">
            <a:extLst>
              <a:ext uri="{FF2B5EF4-FFF2-40B4-BE49-F238E27FC236}">
                <a16:creationId xmlns:a16="http://schemas.microsoft.com/office/drawing/2014/main" id="{7C04F412-501B-E26A-F00B-93A9FB21CEED}"/>
              </a:ext>
            </a:extLst>
          </p:cNvPr>
          <p:cNvGraphicFramePr>
            <a:graphicFrameLocks noGrp="1"/>
          </p:cNvGraphicFramePr>
          <p:nvPr>
            <p:extLst>
              <p:ext uri="{D42A27DB-BD31-4B8C-83A1-F6EECF244321}">
                <p14:modId xmlns:p14="http://schemas.microsoft.com/office/powerpoint/2010/main" val="4203239696"/>
              </p:ext>
            </p:extLst>
          </p:nvPr>
        </p:nvGraphicFramePr>
        <p:xfrm>
          <a:off x="1326157" y="1609343"/>
          <a:ext cx="9454342" cy="2103120"/>
        </p:xfrm>
        <a:graphic>
          <a:graphicData uri="http://schemas.openxmlformats.org/drawingml/2006/table">
            <a:tbl>
              <a:tblPr/>
              <a:tblGrid>
                <a:gridCol w="1567642">
                  <a:extLst>
                    <a:ext uri="{9D8B030D-6E8A-4147-A177-3AD203B41FA5}">
                      <a16:colId xmlns:a16="http://schemas.microsoft.com/office/drawing/2014/main" val="94183614"/>
                    </a:ext>
                  </a:extLst>
                </a:gridCol>
                <a:gridCol w="2628900">
                  <a:extLst>
                    <a:ext uri="{9D8B030D-6E8A-4147-A177-3AD203B41FA5}">
                      <a16:colId xmlns:a16="http://schemas.microsoft.com/office/drawing/2014/main" val="3310015312"/>
                    </a:ext>
                  </a:extLst>
                </a:gridCol>
                <a:gridCol w="2628900">
                  <a:extLst>
                    <a:ext uri="{9D8B030D-6E8A-4147-A177-3AD203B41FA5}">
                      <a16:colId xmlns:a16="http://schemas.microsoft.com/office/drawing/2014/main" val="3560811940"/>
                    </a:ext>
                  </a:extLst>
                </a:gridCol>
                <a:gridCol w="2628900">
                  <a:extLst>
                    <a:ext uri="{9D8B030D-6E8A-4147-A177-3AD203B41FA5}">
                      <a16:colId xmlns:a16="http://schemas.microsoft.com/office/drawing/2014/main" val="2896767929"/>
                    </a:ext>
                  </a:extLst>
                </a:gridCol>
              </a:tblGrid>
              <a:tr h="0">
                <a:tc>
                  <a:txBody>
                    <a:bodyPr/>
                    <a:lstStyle/>
                    <a:p>
                      <a:pPr>
                        <a:buNone/>
                      </a:pPr>
                      <a:r>
                        <a:rPr lang="en-PK" b="1" dirty="0"/>
                        <a:t>Stage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b="1" dirty="0"/>
                        <a:t>File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b="1" dirty="0"/>
                        <a:t>Rows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b="1" dirty="0"/>
                        <a:t>Change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97853743"/>
                  </a:ext>
                </a:extLst>
              </a:tr>
              <a:tr h="0">
                <a:tc>
                  <a:txBody>
                    <a:bodyPr/>
                    <a:lstStyle/>
                    <a:p>
                      <a:pPr>
                        <a:buNone/>
                      </a:pPr>
                      <a:r>
                        <a:rPr lang="en-PK" dirty="0"/>
                        <a:t>Raw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dawn.json geo.json tribune.json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41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Original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4128097"/>
                  </a:ext>
                </a:extLst>
              </a:tr>
              <a:tr h="0">
                <a:tc>
                  <a:txBody>
                    <a:bodyPr/>
                    <a:lstStyle/>
                    <a:p>
                      <a:pPr>
                        <a:buNone/>
                      </a:pPr>
                      <a:r>
                        <a:rPr lang="en-PK" dirty="0"/>
                        <a:t>Deduplicated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extracted.csv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Removed duplicates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63117553"/>
                  </a:ext>
                </a:extLst>
              </a:tr>
              <a:tr h="0">
                <a:tc>
                  <a:txBody>
                    <a:bodyPr/>
                    <a:lstStyle/>
                    <a:p>
                      <a:pPr>
                        <a:buNone/>
                      </a:pPr>
                      <a:r>
                        <a:rPr lang="en-PK" dirty="0"/>
                        <a:t>Filtered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cleaned.csv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Pakistan-only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6077699"/>
                  </a:ext>
                </a:extLst>
              </a:tr>
              <a:tr h="0">
                <a:tc>
                  <a:txBody>
                    <a:bodyPr/>
                    <a:lstStyle/>
                    <a:p>
                      <a:pPr>
                        <a:buNone/>
                      </a:pPr>
                      <a:r>
                        <a:rPr lang="en-PK" dirty="0"/>
                        <a:t>Final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aggregated.csv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City aggregation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9215192"/>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11480" y="256032"/>
            <a:ext cx="11338560" cy="411480"/>
          </a:xfrm>
          <a:prstGeom prst="rect">
            <a:avLst/>
          </a:prstGeom>
          <a:noFill/>
          <a:ln/>
        </p:spPr>
        <p:txBody>
          <a:bodyPr wrap="square" lIns="0" tIns="0" rIns="0" bIns="0" rtlCol="0" anchor="ctr">
            <a:normAutofit/>
          </a:bodyPr>
          <a:lstStyle/>
          <a:p>
            <a:pPr marL="0" indent="0">
              <a:buNone/>
            </a:pPr>
            <a:r>
              <a:rPr lang="en-US" sz="2500" b="1" dirty="0">
                <a:solidFill>
                  <a:srgbClr val="073B72"/>
                </a:solidFill>
                <a:latin typeface="Aptos Display" pitchFamily="34" charset="0"/>
                <a:ea typeface="Aptos Display" pitchFamily="34" charset="-122"/>
                <a:cs typeface="Aptos Display" pitchFamily="34" charset="-120"/>
              </a:rPr>
              <a:t>13. ETL / Cleaning / Transformation</a:t>
            </a:r>
            <a:endParaRPr lang="en-US" sz="2500" dirty="0"/>
          </a:p>
        </p:txBody>
      </p:sp>
      <p:sp>
        <p:nvSpPr>
          <p:cNvPr id="3" name="Text 1"/>
          <p:cNvSpPr/>
          <p:nvPr/>
        </p:nvSpPr>
        <p:spPr>
          <a:xfrm>
            <a:off x="429768" y="713232"/>
            <a:ext cx="11247120" cy="256032"/>
          </a:xfrm>
          <a:prstGeom prst="rect">
            <a:avLst/>
          </a:prstGeom>
          <a:noFill/>
          <a:ln/>
        </p:spPr>
        <p:txBody>
          <a:bodyPr wrap="square" lIns="0" tIns="0" rIns="0" bIns="0" rtlCol="0" anchor="ctr">
            <a:normAutofit/>
          </a:bodyPr>
          <a:lstStyle/>
          <a:p>
            <a:pPr marL="0" indent="0">
              <a:buNone/>
            </a:pPr>
            <a:r>
              <a:rPr lang="en-US" sz="1150" dirty="0">
                <a:solidFill>
                  <a:srgbClr val="56606B"/>
                </a:solidFill>
              </a:rPr>
              <a:t>Show KNIME workflow or justified processing approach.</a:t>
            </a:r>
            <a:endParaRPr lang="en-US" sz="1150" dirty="0"/>
          </a:p>
        </p:txBody>
      </p:sp>
      <p:sp>
        <p:nvSpPr>
          <p:cNvPr id="4" name="Shape 2"/>
          <p:cNvSpPr/>
          <p:nvPr/>
        </p:nvSpPr>
        <p:spPr>
          <a:xfrm>
            <a:off x="411480" y="1024128"/>
            <a:ext cx="11338560" cy="0"/>
          </a:xfrm>
          <a:prstGeom prst="line">
            <a:avLst/>
          </a:prstGeom>
          <a:noFill/>
          <a:ln w="12700">
            <a:solidFill>
              <a:srgbClr val="C8D1DD"/>
            </a:solidFill>
            <a:prstDash val="solid"/>
          </a:ln>
        </p:spPr>
      </p:sp>
      <p:sp>
        <p:nvSpPr>
          <p:cNvPr id="5" name="Text 3"/>
          <p:cNvSpPr/>
          <p:nvPr/>
        </p:nvSpPr>
        <p:spPr>
          <a:xfrm>
            <a:off x="411480" y="6510528"/>
            <a:ext cx="6858000" cy="164592"/>
          </a:xfrm>
          <a:prstGeom prst="rect">
            <a:avLst/>
          </a:prstGeom>
          <a:noFill/>
          <a:ln/>
        </p:spPr>
        <p:txBody>
          <a:bodyPr wrap="square" lIns="0" tIns="0" rIns="0" bIns="0" rtlCol="0" anchor="ctr">
            <a:normAutofit/>
          </a:bodyPr>
          <a:lstStyle/>
          <a:p>
            <a:pPr marL="0" indent="0">
              <a:buNone/>
            </a:pPr>
            <a:r>
              <a:rPr lang="en-US" sz="780" dirty="0">
                <a:solidFill>
                  <a:srgbClr val="7A8796"/>
                </a:solidFill>
              </a:rPr>
              <a:t>Tools &amp; Techniques End-to-End Data Pipeline Capstone</a:t>
            </a:r>
            <a:endParaRPr lang="en-US" sz="780" dirty="0"/>
          </a:p>
        </p:txBody>
      </p:sp>
      <p:sp>
        <p:nvSpPr>
          <p:cNvPr id="6" name="Text 4"/>
          <p:cNvSpPr/>
          <p:nvPr/>
        </p:nvSpPr>
        <p:spPr>
          <a:xfrm>
            <a:off x="640080" y="1325880"/>
            <a:ext cx="5577840" cy="2423160"/>
          </a:xfrm>
          <a:prstGeom prst="rect">
            <a:avLst/>
          </a:prstGeom>
          <a:solidFill>
            <a:srgbClr val="F4F6F8"/>
          </a:solidFill>
          <a:ln w="10160">
            <a:solidFill>
              <a:srgbClr val="C8D1DD"/>
            </a:solidFill>
          </a:ln>
        </p:spPr>
        <p:txBody>
          <a:bodyPr wrap="square" lIns="1524" tIns="1524" rIns="1524" bIns="1524" rtlCol="0" anchor="t">
            <a:normAutofit/>
          </a:bodyPr>
          <a:lstStyle/>
          <a:p>
            <a:pPr marL="0" indent="0">
              <a:buNone/>
            </a:pPr>
            <a:r>
              <a:rPr lang="en-US" sz="1450" b="1" dirty="0">
                <a:solidFill>
                  <a:srgbClr val="073B72"/>
                </a:solidFill>
              </a:rPr>
              <a:t>KNIME / Processing Workflow Screenshot
</a:t>
            </a:r>
            <a:endParaRPr lang="en-US" sz="1450" dirty="0"/>
          </a:p>
        </p:txBody>
      </p:sp>
      <p:sp>
        <p:nvSpPr>
          <p:cNvPr id="7" name="Text 5"/>
          <p:cNvSpPr/>
          <p:nvPr/>
        </p:nvSpPr>
        <p:spPr>
          <a:xfrm>
            <a:off x="6492240" y="1325880"/>
            <a:ext cx="4983480" cy="2423160"/>
          </a:xfrm>
          <a:prstGeom prst="rect">
            <a:avLst/>
          </a:prstGeom>
          <a:solidFill>
            <a:srgbClr val="EAF3FF"/>
          </a:solidFill>
          <a:ln w="10160">
            <a:solidFill>
              <a:srgbClr val="C8D1DD"/>
            </a:solidFill>
          </a:ln>
        </p:spPr>
        <p:txBody>
          <a:bodyPr wrap="square" lIns="1524" tIns="1524" rIns="1524" bIns="1524" rtlCol="0" anchor="t">
            <a:normAutofit/>
          </a:bodyPr>
          <a:lstStyle/>
          <a:p>
            <a:r>
              <a:rPr lang="en-US" sz="1450" b="1" dirty="0">
                <a:solidFill>
                  <a:srgbClr val="073B72"/>
                </a:solidFill>
              </a:rPr>
              <a:t>Main Cleaning Steps
</a:t>
            </a:r>
            <a:r>
              <a:rPr lang="en-PK" sz="1600" dirty="0"/>
              <a:t>Missing values handled </a:t>
            </a:r>
            <a:endParaRPr lang="en-GB" sz="1600" dirty="0"/>
          </a:p>
          <a:p>
            <a:r>
              <a:rPr lang="en-PK" sz="1600" dirty="0"/>
              <a:t>Duplicate removal </a:t>
            </a:r>
            <a:endParaRPr lang="en-GB" sz="1600" dirty="0"/>
          </a:p>
          <a:p>
            <a:r>
              <a:rPr lang="en-PK" sz="1600" dirty="0"/>
              <a:t>City standardization </a:t>
            </a:r>
            <a:endParaRPr lang="en-GB" sz="1600" dirty="0"/>
          </a:p>
          <a:p>
            <a:r>
              <a:rPr lang="en-PK" sz="1600" dirty="0"/>
              <a:t>Geo-tagging </a:t>
            </a:r>
            <a:endParaRPr lang="en-GB" sz="1600" dirty="0"/>
          </a:p>
          <a:p>
            <a:r>
              <a:rPr lang="en-PK" sz="1600" dirty="0"/>
              <a:t>Aggregation</a:t>
            </a:r>
            <a:endParaRPr lang="en-US" sz="1450" dirty="0"/>
          </a:p>
        </p:txBody>
      </p:sp>
      <p:sp>
        <p:nvSpPr>
          <p:cNvPr id="8" name="Text 6"/>
          <p:cNvSpPr/>
          <p:nvPr/>
        </p:nvSpPr>
        <p:spPr>
          <a:xfrm>
            <a:off x="441960" y="4069726"/>
            <a:ext cx="10789920" cy="2084186"/>
          </a:xfrm>
          <a:prstGeom prst="rect">
            <a:avLst/>
          </a:prstGeom>
          <a:solidFill>
            <a:srgbClr val="F8FAFC"/>
          </a:solidFill>
          <a:ln w="10160">
            <a:solidFill>
              <a:srgbClr val="C8D1DD"/>
            </a:solidFill>
          </a:ln>
        </p:spPr>
        <p:txBody>
          <a:bodyPr wrap="square" lIns="1143" tIns="1143" rIns="1143" bIns="1143" rtlCol="0" anchor="t">
            <a:normAutofit/>
          </a:bodyPr>
          <a:lstStyle/>
          <a:p>
            <a:pPr marL="0" indent="0">
              <a:buNone/>
            </a:pPr>
            <a:endParaRPr lang="en-US" sz="920" dirty="0"/>
          </a:p>
        </p:txBody>
      </p:sp>
      <p:sp>
        <p:nvSpPr>
          <p:cNvPr id="25" name="Slide Number Placeholder 0"/>
          <p:cNvSpPr>
            <a:spLocks noGrp="1"/>
          </p:cNvSpPr>
          <p:nvPr>
            <p:ph type="sldNum" sz="quarter" idx="4294967295"/>
          </p:nvPr>
        </p:nvSpPr>
        <p:spPr>
          <a:xfrm>
            <a:off x="1120140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7A8796"/>
                </a:solidFill>
              </a:defRPr>
            </a:lvl1pPr>
          </a:lstStyle>
          <a:p>
            <a:pPr algn="l"/>
            <a:fld id="{F7021451-1387-4CA6-816F-3879F97B5CBC}" type="slidenum">
              <a:rPr lang="en-US" b="0"/>
              <a:t>15</a:t>
            </a:fld>
            <a:endParaRPr lang="en-US"/>
          </a:p>
        </p:txBody>
      </p:sp>
      <p:graphicFrame>
        <p:nvGraphicFramePr>
          <p:cNvPr id="10" name="Table 9">
            <a:extLst>
              <a:ext uri="{FF2B5EF4-FFF2-40B4-BE49-F238E27FC236}">
                <a16:creationId xmlns:a16="http://schemas.microsoft.com/office/drawing/2014/main" id="{774E7EEE-8B60-3F0E-8124-74A7DC43E3FA}"/>
              </a:ext>
            </a:extLst>
          </p:cNvPr>
          <p:cNvGraphicFramePr>
            <a:graphicFrameLocks noGrp="1"/>
          </p:cNvGraphicFramePr>
          <p:nvPr>
            <p:extLst>
              <p:ext uri="{D42A27DB-BD31-4B8C-83A1-F6EECF244321}">
                <p14:modId xmlns:p14="http://schemas.microsoft.com/office/powerpoint/2010/main" val="495162114"/>
              </p:ext>
            </p:extLst>
          </p:nvPr>
        </p:nvGraphicFramePr>
        <p:xfrm>
          <a:off x="960120" y="4372725"/>
          <a:ext cx="9656157" cy="1536156"/>
        </p:xfrm>
        <a:graphic>
          <a:graphicData uri="http://schemas.openxmlformats.org/drawingml/2006/table">
            <a:tbl>
              <a:tblPr/>
              <a:tblGrid>
                <a:gridCol w="3218719">
                  <a:extLst>
                    <a:ext uri="{9D8B030D-6E8A-4147-A177-3AD203B41FA5}">
                      <a16:colId xmlns:a16="http://schemas.microsoft.com/office/drawing/2014/main" val="2914606928"/>
                    </a:ext>
                  </a:extLst>
                </a:gridCol>
                <a:gridCol w="3218719">
                  <a:extLst>
                    <a:ext uri="{9D8B030D-6E8A-4147-A177-3AD203B41FA5}">
                      <a16:colId xmlns:a16="http://schemas.microsoft.com/office/drawing/2014/main" val="3349575958"/>
                    </a:ext>
                  </a:extLst>
                </a:gridCol>
                <a:gridCol w="3218719">
                  <a:extLst>
                    <a:ext uri="{9D8B030D-6E8A-4147-A177-3AD203B41FA5}">
                      <a16:colId xmlns:a16="http://schemas.microsoft.com/office/drawing/2014/main" val="3563801924"/>
                    </a:ext>
                  </a:extLst>
                </a:gridCol>
              </a:tblGrid>
              <a:tr h="438876">
                <a:tc>
                  <a:txBody>
                    <a:bodyPr/>
                    <a:lstStyle/>
                    <a:p>
                      <a:pPr>
                        <a:buNone/>
                      </a:pPr>
                      <a:r>
                        <a:rPr lang="en-PK" b="1" dirty="0"/>
                        <a:t>Issue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b="1" dirty="0"/>
                        <a:t>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b="1" dirty="0"/>
                        <a:t>Result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7029855"/>
                  </a:ext>
                </a:extLst>
              </a:tr>
              <a:tr h="340757">
                <a:tc>
                  <a:txBody>
                    <a:bodyPr/>
                    <a:lstStyle/>
                    <a:p>
                      <a:pPr>
                        <a:buNone/>
                      </a:pPr>
                      <a:r>
                        <a:rPr lang="en-PK" dirty="0"/>
                        <a:t>Duplicate articles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RapidFuzz</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Reduced 41→25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3678495"/>
                  </a:ext>
                </a:extLst>
              </a:tr>
              <a:tr h="340757">
                <a:tc>
                  <a:txBody>
                    <a:bodyPr/>
                    <a:lstStyle/>
                    <a:p>
                      <a:pPr>
                        <a:buNone/>
                      </a:pPr>
                      <a:r>
                        <a:rPr lang="en-PK"/>
                        <a:t>Missing city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Filled National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Cleaner dataset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6073496"/>
                  </a:ext>
                </a:extLst>
              </a:tr>
              <a:tr h="340757">
                <a:tc>
                  <a:txBody>
                    <a:bodyPr/>
                    <a:lstStyle/>
                    <a:p>
                      <a:pPr>
                        <a:buNone/>
                      </a:pPr>
                      <a:r>
                        <a:rPr lang="en-PK"/>
                        <a:t>Inconsistent names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Standardized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Reliable 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3135913"/>
                  </a:ext>
                </a:extLst>
              </a:tr>
            </a:tbl>
          </a:graphicData>
        </a:graphic>
      </p:graphicFrame>
      <p:pic>
        <p:nvPicPr>
          <p:cNvPr id="12" name="Picture 11">
            <a:extLst>
              <a:ext uri="{FF2B5EF4-FFF2-40B4-BE49-F238E27FC236}">
                <a16:creationId xmlns:a16="http://schemas.microsoft.com/office/drawing/2014/main" id="{FADA3DD2-11ED-F663-25AB-3511C70EE214}"/>
              </a:ext>
            </a:extLst>
          </p:cNvPr>
          <p:cNvPicPr>
            <a:picLocks noChangeAspect="1"/>
          </p:cNvPicPr>
          <p:nvPr/>
        </p:nvPicPr>
        <p:blipFill>
          <a:blip r:embed="rId3"/>
          <a:stretch>
            <a:fillRect/>
          </a:stretch>
        </p:blipFill>
        <p:spPr>
          <a:xfrm>
            <a:off x="640080" y="1627260"/>
            <a:ext cx="5577840" cy="212177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11480" y="256032"/>
            <a:ext cx="11338560" cy="411480"/>
          </a:xfrm>
          <a:prstGeom prst="rect">
            <a:avLst/>
          </a:prstGeom>
          <a:noFill/>
          <a:ln/>
        </p:spPr>
        <p:txBody>
          <a:bodyPr wrap="square" lIns="0" tIns="0" rIns="0" bIns="0" rtlCol="0" anchor="ctr">
            <a:normAutofit/>
          </a:bodyPr>
          <a:lstStyle/>
          <a:p>
            <a:pPr marL="0" indent="0">
              <a:buNone/>
            </a:pPr>
            <a:r>
              <a:rPr lang="en-US" sz="2500" b="1" dirty="0">
                <a:solidFill>
                  <a:srgbClr val="073B72"/>
                </a:solidFill>
                <a:latin typeface="Aptos Display" pitchFamily="34" charset="0"/>
                <a:ea typeface="Aptos Display" pitchFamily="34" charset="-122"/>
                <a:cs typeface="Aptos Display" pitchFamily="34" charset="-120"/>
              </a:rPr>
              <a:t>14. Apache Airflow Orchestration</a:t>
            </a:r>
            <a:endParaRPr lang="en-US" sz="2500" dirty="0"/>
          </a:p>
        </p:txBody>
      </p:sp>
      <p:sp>
        <p:nvSpPr>
          <p:cNvPr id="3" name="Text 1"/>
          <p:cNvSpPr/>
          <p:nvPr/>
        </p:nvSpPr>
        <p:spPr>
          <a:xfrm>
            <a:off x="429768" y="713232"/>
            <a:ext cx="11247120" cy="256032"/>
          </a:xfrm>
          <a:prstGeom prst="rect">
            <a:avLst/>
          </a:prstGeom>
          <a:noFill/>
          <a:ln/>
        </p:spPr>
        <p:txBody>
          <a:bodyPr wrap="square" lIns="0" tIns="0" rIns="0" bIns="0" rtlCol="0" anchor="ctr">
            <a:normAutofit/>
          </a:bodyPr>
          <a:lstStyle/>
          <a:p>
            <a:pPr marL="0" indent="0">
              <a:buNone/>
            </a:pPr>
            <a:r>
              <a:rPr lang="en-US" sz="1150" dirty="0">
                <a:solidFill>
                  <a:srgbClr val="56606B"/>
                </a:solidFill>
              </a:rPr>
              <a:t>Show DAG, tasks, schedule, and successful run.</a:t>
            </a:r>
            <a:endParaRPr lang="en-US" sz="1150" dirty="0"/>
          </a:p>
        </p:txBody>
      </p:sp>
      <p:sp>
        <p:nvSpPr>
          <p:cNvPr id="4" name="Shape 2"/>
          <p:cNvSpPr/>
          <p:nvPr/>
        </p:nvSpPr>
        <p:spPr>
          <a:xfrm>
            <a:off x="411480" y="1024128"/>
            <a:ext cx="11338560" cy="0"/>
          </a:xfrm>
          <a:prstGeom prst="line">
            <a:avLst/>
          </a:prstGeom>
          <a:noFill/>
          <a:ln w="12700">
            <a:solidFill>
              <a:srgbClr val="C8D1DD"/>
            </a:solidFill>
            <a:prstDash val="solid"/>
          </a:ln>
        </p:spPr>
      </p:sp>
      <p:sp>
        <p:nvSpPr>
          <p:cNvPr id="5" name="Text 3"/>
          <p:cNvSpPr/>
          <p:nvPr/>
        </p:nvSpPr>
        <p:spPr>
          <a:xfrm>
            <a:off x="411480" y="6510528"/>
            <a:ext cx="6858000" cy="164592"/>
          </a:xfrm>
          <a:prstGeom prst="rect">
            <a:avLst/>
          </a:prstGeom>
          <a:noFill/>
          <a:ln/>
        </p:spPr>
        <p:txBody>
          <a:bodyPr wrap="square" lIns="0" tIns="0" rIns="0" bIns="0" rtlCol="0" anchor="ctr">
            <a:normAutofit/>
          </a:bodyPr>
          <a:lstStyle/>
          <a:p>
            <a:pPr marL="0" indent="0">
              <a:buNone/>
            </a:pPr>
            <a:r>
              <a:rPr lang="en-US" sz="780" dirty="0">
                <a:solidFill>
                  <a:srgbClr val="7A8796"/>
                </a:solidFill>
              </a:rPr>
              <a:t>Tools &amp; Techniques End-to-End Data Pipeline Capstone</a:t>
            </a:r>
            <a:endParaRPr lang="en-US" sz="780" dirty="0"/>
          </a:p>
        </p:txBody>
      </p:sp>
      <p:sp>
        <p:nvSpPr>
          <p:cNvPr id="6" name="Text 4"/>
          <p:cNvSpPr/>
          <p:nvPr/>
        </p:nvSpPr>
        <p:spPr>
          <a:xfrm>
            <a:off x="502920" y="1325880"/>
            <a:ext cx="10546080" cy="1938527"/>
          </a:xfrm>
          <a:prstGeom prst="rect">
            <a:avLst/>
          </a:prstGeom>
          <a:solidFill>
            <a:srgbClr val="F8FAFC"/>
          </a:solidFill>
          <a:ln w="10160">
            <a:solidFill>
              <a:srgbClr val="C8D1DD"/>
            </a:solidFill>
          </a:ln>
        </p:spPr>
        <p:txBody>
          <a:bodyPr wrap="square" lIns="1143" tIns="1143" rIns="1143" bIns="1143" rtlCol="0" anchor="t">
            <a:normAutofit/>
          </a:bodyPr>
          <a:lstStyle/>
          <a:p>
            <a:pPr marL="0" indent="0">
              <a:buNone/>
            </a:pPr>
            <a:endParaRPr lang="en-US" sz="950" dirty="0"/>
          </a:p>
        </p:txBody>
      </p:sp>
      <p:sp>
        <p:nvSpPr>
          <p:cNvPr id="7" name="Text 5"/>
          <p:cNvSpPr/>
          <p:nvPr/>
        </p:nvSpPr>
        <p:spPr>
          <a:xfrm>
            <a:off x="518160" y="3803903"/>
            <a:ext cx="5257800" cy="594360"/>
          </a:xfrm>
          <a:prstGeom prst="rect">
            <a:avLst/>
          </a:prstGeom>
          <a:solidFill>
            <a:srgbClr val="F0F9FF"/>
          </a:solidFill>
          <a:ln w="10160">
            <a:solidFill>
              <a:srgbClr val="C8D1DD"/>
            </a:solidFill>
          </a:ln>
        </p:spPr>
        <p:txBody>
          <a:bodyPr wrap="square" lIns="1524" tIns="1524" rIns="1524" bIns="1524" rtlCol="0" anchor="t">
            <a:normAutofit fontScale="92500" lnSpcReduction="10000"/>
          </a:bodyPr>
          <a:lstStyle/>
          <a:p>
            <a:r>
              <a:rPr lang="en-US" sz="1450" b="1" dirty="0">
                <a:solidFill>
                  <a:srgbClr val="073B72"/>
                </a:solidFill>
              </a:rPr>
              <a:t>Schedule
</a:t>
            </a:r>
            <a:r>
              <a:rPr lang="en-PK" sz="1600" dirty="0"/>
              <a:t>Daily: 6 AM</a:t>
            </a:r>
          </a:p>
          <a:p>
            <a:r>
              <a:rPr lang="en-PK" sz="1600" dirty="0"/>
              <a:t>Weekly: Sunday 8 AM</a:t>
            </a:r>
          </a:p>
          <a:p>
            <a:pPr marL="0" indent="0">
              <a:buNone/>
            </a:pPr>
            <a:endParaRPr lang="en-US" sz="1450" dirty="0"/>
          </a:p>
        </p:txBody>
      </p:sp>
      <p:sp>
        <p:nvSpPr>
          <p:cNvPr id="8" name="Text 6"/>
          <p:cNvSpPr/>
          <p:nvPr/>
        </p:nvSpPr>
        <p:spPr>
          <a:xfrm>
            <a:off x="5943600" y="3803902"/>
            <a:ext cx="5257800" cy="2798061"/>
          </a:xfrm>
          <a:prstGeom prst="rect">
            <a:avLst/>
          </a:prstGeom>
          <a:solidFill>
            <a:srgbClr val="F4F6F8"/>
          </a:solidFill>
          <a:ln w="10160">
            <a:solidFill>
              <a:srgbClr val="C8D1DD"/>
            </a:solidFill>
          </a:ln>
        </p:spPr>
        <p:txBody>
          <a:bodyPr wrap="square" lIns="1524" tIns="1524" rIns="1524" bIns="1524" rtlCol="0" anchor="t">
            <a:normAutofit/>
          </a:bodyPr>
          <a:lstStyle/>
          <a:p>
            <a:pPr marL="0" indent="0">
              <a:buNone/>
            </a:pPr>
            <a:r>
              <a:rPr lang="en-US" sz="1450" b="1" dirty="0">
                <a:solidFill>
                  <a:srgbClr val="073B72"/>
                </a:solidFill>
              </a:rPr>
              <a:t>DAG Screenshot
</a:t>
            </a:r>
            <a:endParaRPr lang="en-US" sz="1450" dirty="0"/>
          </a:p>
        </p:txBody>
      </p:sp>
      <p:sp>
        <p:nvSpPr>
          <p:cNvPr id="25" name="Slide Number Placeholder 0"/>
          <p:cNvSpPr>
            <a:spLocks noGrp="1"/>
          </p:cNvSpPr>
          <p:nvPr>
            <p:ph type="sldNum" sz="quarter" idx="4294967295"/>
          </p:nvPr>
        </p:nvSpPr>
        <p:spPr>
          <a:xfrm>
            <a:off x="1120140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7A8796"/>
                </a:solidFill>
              </a:defRPr>
            </a:lvl1pPr>
          </a:lstStyle>
          <a:p>
            <a:pPr algn="l"/>
            <a:fld id="{F7021451-1387-4CA6-816F-3879F97B5CBC}" type="slidenum">
              <a:rPr lang="en-US" b="0"/>
              <a:t>16</a:t>
            </a:fld>
            <a:endParaRPr lang="en-US"/>
          </a:p>
        </p:txBody>
      </p:sp>
      <p:graphicFrame>
        <p:nvGraphicFramePr>
          <p:cNvPr id="10" name="Table 9">
            <a:extLst>
              <a:ext uri="{FF2B5EF4-FFF2-40B4-BE49-F238E27FC236}">
                <a16:creationId xmlns:a16="http://schemas.microsoft.com/office/drawing/2014/main" id="{243270FF-FE25-0EF2-07C3-196DAF3950FF}"/>
              </a:ext>
            </a:extLst>
          </p:cNvPr>
          <p:cNvGraphicFramePr>
            <a:graphicFrameLocks noGrp="1"/>
          </p:cNvGraphicFramePr>
          <p:nvPr>
            <p:extLst>
              <p:ext uri="{D42A27DB-BD31-4B8C-83A1-F6EECF244321}">
                <p14:modId xmlns:p14="http://schemas.microsoft.com/office/powerpoint/2010/main" val="2308638749"/>
              </p:ext>
            </p:extLst>
          </p:nvPr>
        </p:nvGraphicFramePr>
        <p:xfrm>
          <a:off x="533400" y="1401166"/>
          <a:ext cx="10515600" cy="1828800"/>
        </p:xfrm>
        <a:graphic>
          <a:graphicData uri="http://schemas.openxmlformats.org/drawingml/2006/table">
            <a:tbl>
              <a:tblPr/>
              <a:tblGrid>
                <a:gridCol w="5257800">
                  <a:extLst>
                    <a:ext uri="{9D8B030D-6E8A-4147-A177-3AD203B41FA5}">
                      <a16:colId xmlns:a16="http://schemas.microsoft.com/office/drawing/2014/main" val="3921543615"/>
                    </a:ext>
                  </a:extLst>
                </a:gridCol>
                <a:gridCol w="5257800">
                  <a:extLst>
                    <a:ext uri="{9D8B030D-6E8A-4147-A177-3AD203B41FA5}">
                      <a16:colId xmlns:a16="http://schemas.microsoft.com/office/drawing/2014/main" val="992971748"/>
                    </a:ext>
                  </a:extLst>
                </a:gridCol>
              </a:tblGrid>
              <a:tr h="0">
                <a:tc>
                  <a:txBody>
                    <a:bodyPr/>
                    <a:lstStyle/>
                    <a:p>
                      <a:pPr>
                        <a:buNone/>
                      </a:pPr>
                      <a:r>
                        <a:rPr lang="en-PK" b="1" dirty="0"/>
                        <a:t>Task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b="1" dirty="0"/>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17116578"/>
                  </a:ext>
                </a:extLst>
              </a:tr>
              <a:tr h="0">
                <a:tc>
                  <a:txBody>
                    <a:bodyPr/>
                    <a:lstStyle/>
                    <a:p>
                      <a:pPr>
                        <a:buNone/>
                      </a:pPr>
                      <a:r>
                        <a:rPr lang="en-PK"/>
                        <a:t>run_scrapers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Data Collection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5541943"/>
                  </a:ext>
                </a:extLst>
              </a:tr>
              <a:tr h="0">
                <a:tc>
                  <a:txBody>
                    <a:bodyPr/>
                    <a:lstStyle/>
                    <a:p>
                      <a:pPr>
                        <a:buNone/>
                      </a:pPr>
                      <a:r>
                        <a:rPr lang="en-PK"/>
                        <a:t>run_nlp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Extraction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81832780"/>
                  </a:ext>
                </a:extLst>
              </a:tr>
              <a:tr h="0">
                <a:tc>
                  <a:txBody>
                    <a:bodyPr/>
                    <a:lstStyle/>
                    <a:p>
                      <a:pPr>
                        <a:buNone/>
                      </a:pPr>
                      <a:r>
                        <a:rPr lang="en-PK"/>
                        <a:t>run_knime_etl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Processing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526706"/>
                  </a:ext>
                </a:extLst>
              </a:tr>
              <a:tr h="0">
                <a:tc>
                  <a:txBody>
                    <a:bodyPr/>
                    <a:lstStyle/>
                    <a:p>
                      <a:pPr>
                        <a:buNone/>
                      </a:pPr>
                      <a:r>
                        <a:rPr lang="en-PK"/>
                        <a:t>trigger_n8n_alerts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Alerts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0686346"/>
                  </a:ext>
                </a:extLst>
              </a:tr>
            </a:tbl>
          </a:graphicData>
        </a:graphic>
      </p:graphicFrame>
      <p:pic>
        <p:nvPicPr>
          <p:cNvPr id="12" name="Picture 11">
            <a:extLst>
              <a:ext uri="{FF2B5EF4-FFF2-40B4-BE49-F238E27FC236}">
                <a16:creationId xmlns:a16="http://schemas.microsoft.com/office/drawing/2014/main" id="{18F85DCB-37CA-3EDA-EDF2-B2EBFEC13619}"/>
              </a:ext>
            </a:extLst>
          </p:cNvPr>
          <p:cNvPicPr>
            <a:picLocks noChangeAspect="1"/>
          </p:cNvPicPr>
          <p:nvPr/>
        </p:nvPicPr>
        <p:blipFill>
          <a:blip r:embed="rId3"/>
          <a:stretch>
            <a:fillRect/>
          </a:stretch>
        </p:blipFill>
        <p:spPr>
          <a:xfrm>
            <a:off x="5943600" y="4078223"/>
            <a:ext cx="5257800" cy="243230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11480" y="256032"/>
            <a:ext cx="11338560" cy="411480"/>
          </a:xfrm>
          <a:prstGeom prst="rect">
            <a:avLst/>
          </a:prstGeom>
          <a:noFill/>
          <a:ln/>
        </p:spPr>
        <p:txBody>
          <a:bodyPr wrap="square" lIns="0" tIns="0" rIns="0" bIns="0" rtlCol="0" anchor="ctr">
            <a:normAutofit/>
          </a:bodyPr>
          <a:lstStyle/>
          <a:p>
            <a:pPr marL="0" indent="0">
              <a:buNone/>
            </a:pPr>
            <a:r>
              <a:rPr lang="en-US" sz="2500" b="1" dirty="0">
                <a:solidFill>
                  <a:srgbClr val="073B72"/>
                </a:solidFill>
                <a:latin typeface="Aptos Display" pitchFamily="34" charset="0"/>
                <a:ea typeface="Aptos Display" pitchFamily="34" charset="-122"/>
                <a:cs typeface="Aptos Display" pitchFamily="34" charset="-120"/>
              </a:rPr>
              <a:t>15. n8n Workflow Automation / Alerts</a:t>
            </a:r>
            <a:endParaRPr lang="en-US" sz="2500" dirty="0"/>
          </a:p>
        </p:txBody>
      </p:sp>
      <p:sp>
        <p:nvSpPr>
          <p:cNvPr id="3" name="Text 1"/>
          <p:cNvSpPr/>
          <p:nvPr/>
        </p:nvSpPr>
        <p:spPr>
          <a:xfrm>
            <a:off x="429768" y="713232"/>
            <a:ext cx="11247120" cy="256032"/>
          </a:xfrm>
          <a:prstGeom prst="rect">
            <a:avLst/>
          </a:prstGeom>
          <a:noFill/>
          <a:ln/>
        </p:spPr>
        <p:txBody>
          <a:bodyPr wrap="square" lIns="0" tIns="0" rIns="0" bIns="0" rtlCol="0" anchor="ctr">
            <a:normAutofit/>
          </a:bodyPr>
          <a:lstStyle/>
          <a:p>
            <a:pPr marL="0" indent="0">
              <a:buNone/>
            </a:pPr>
            <a:r>
              <a:rPr lang="en-US" sz="1150" dirty="0">
                <a:solidFill>
                  <a:srgbClr val="56606B"/>
                </a:solidFill>
              </a:rPr>
              <a:t>Show trigger, workflow, and message/output.</a:t>
            </a:r>
            <a:endParaRPr lang="en-US" sz="1150" dirty="0"/>
          </a:p>
        </p:txBody>
      </p:sp>
      <p:sp>
        <p:nvSpPr>
          <p:cNvPr id="4" name="Shape 2"/>
          <p:cNvSpPr/>
          <p:nvPr/>
        </p:nvSpPr>
        <p:spPr>
          <a:xfrm>
            <a:off x="411480" y="1024128"/>
            <a:ext cx="11338560" cy="0"/>
          </a:xfrm>
          <a:prstGeom prst="line">
            <a:avLst/>
          </a:prstGeom>
          <a:noFill/>
          <a:ln w="12700">
            <a:solidFill>
              <a:srgbClr val="C8D1DD"/>
            </a:solidFill>
            <a:prstDash val="solid"/>
          </a:ln>
        </p:spPr>
      </p:sp>
      <p:sp>
        <p:nvSpPr>
          <p:cNvPr id="5" name="Text 3"/>
          <p:cNvSpPr/>
          <p:nvPr/>
        </p:nvSpPr>
        <p:spPr>
          <a:xfrm>
            <a:off x="411480" y="6510528"/>
            <a:ext cx="6858000" cy="164592"/>
          </a:xfrm>
          <a:prstGeom prst="rect">
            <a:avLst/>
          </a:prstGeom>
          <a:noFill/>
          <a:ln/>
        </p:spPr>
        <p:txBody>
          <a:bodyPr wrap="square" lIns="0" tIns="0" rIns="0" bIns="0" rtlCol="0" anchor="ctr">
            <a:normAutofit/>
          </a:bodyPr>
          <a:lstStyle/>
          <a:p>
            <a:pPr marL="0" indent="0">
              <a:buNone/>
            </a:pPr>
            <a:r>
              <a:rPr lang="en-US" sz="780" dirty="0">
                <a:solidFill>
                  <a:srgbClr val="7A8796"/>
                </a:solidFill>
              </a:rPr>
              <a:t>Tools &amp; Techniques End-to-End Data Pipeline Capstone</a:t>
            </a:r>
            <a:endParaRPr lang="en-US" sz="780" dirty="0"/>
          </a:p>
        </p:txBody>
      </p:sp>
      <p:sp>
        <p:nvSpPr>
          <p:cNvPr id="6" name="Text 4"/>
          <p:cNvSpPr/>
          <p:nvPr/>
        </p:nvSpPr>
        <p:spPr>
          <a:xfrm>
            <a:off x="685800" y="1325880"/>
            <a:ext cx="3383280" cy="914400"/>
          </a:xfrm>
          <a:prstGeom prst="rect">
            <a:avLst/>
          </a:prstGeom>
          <a:solidFill>
            <a:srgbClr val="F0F9FF"/>
          </a:solidFill>
          <a:ln w="10160">
            <a:solidFill>
              <a:srgbClr val="C8D1DD"/>
            </a:solidFill>
          </a:ln>
        </p:spPr>
        <p:txBody>
          <a:bodyPr wrap="square" lIns="1524" tIns="1524" rIns="1524" bIns="1524" rtlCol="0" anchor="t">
            <a:normAutofit/>
          </a:bodyPr>
          <a:lstStyle/>
          <a:p>
            <a:r>
              <a:rPr lang="en-US" sz="1450" b="1" dirty="0">
                <a:solidFill>
                  <a:srgbClr val="073B72"/>
                </a:solidFill>
              </a:rPr>
              <a:t>Trigger
</a:t>
            </a:r>
            <a:r>
              <a:rPr lang="en-PK" sz="1600" dirty="0"/>
              <a:t>Airflow Webhook</a:t>
            </a:r>
            <a:endParaRPr lang="en-US" sz="1450" dirty="0"/>
          </a:p>
        </p:txBody>
      </p:sp>
      <p:sp>
        <p:nvSpPr>
          <p:cNvPr id="7" name="Text 5"/>
          <p:cNvSpPr/>
          <p:nvPr/>
        </p:nvSpPr>
        <p:spPr>
          <a:xfrm>
            <a:off x="4389120" y="1325880"/>
            <a:ext cx="3383280" cy="914400"/>
          </a:xfrm>
          <a:prstGeom prst="rect">
            <a:avLst/>
          </a:prstGeom>
          <a:solidFill>
            <a:srgbClr val="F0F9FF"/>
          </a:solidFill>
          <a:ln w="10160">
            <a:solidFill>
              <a:srgbClr val="C8D1DD"/>
            </a:solidFill>
          </a:ln>
        </p:spPr>
        <p:txBody>
          <a:bodyPr wrap="square" lIns="1524" tIns="1524" rIns="1524" bIns="1524" rtlCol="0" anchor="t">
            <a:normAutofit lnSpcReduction="10000"/>
          </a:bodyPr>
          <a:lstStyle/>
          <a:p>
            <a:r>
              <a:rPr lang="en-US" sz="1450" b="1" dirty="0">
                <a:solidFill>
                  <a:srgbClr val="073B72"/>
                </a:solidFill>
              </a:rPr>
              <a:t>Workflow Actions
</a:t>
            </a:r>
            <a:r>
              <a:rPr lang="en-PK" sz="1600" dirty="0"/>
              <a:t>→ Fetch CSV</a:t>
            </a:r>
            <a:br>
              <a:rPr lang="en-PK" sz="1600" dirty="0"/>
            </a:br>
            <a:r>
              <a:rPr lang="en-PK" sz="1600" dirty="0"/>
              <a:t>→ Detect Spike</a:t>
            </a:r>
            <a:br>
              <a:rPr lang="en-PK" sz="1600" dirty="0"/>
            </a:br>
            <a:r>
              <a:rPr lang="en-PK" sz="1600" dirty="0"/>
              <a:t>→ Send Gmail Alert</a:t>
            </a:r>
            <a:endParaRPr lang="en-US" sz="1450" dirty="0"/>
          </a:p>
        </p:txBody>
      </p:sp>
      <p:sp>
        <p:nvSpPr>
          <p:cNvPr id="8" name="Text 6"/>
          <p:cNvSpPr/>
          <p:nvPr/>
        </p:nvSpPr>
        <p:spPr>
          <a:xfrm>
            <a:off x="8092440" y="1325880"/>
            <a:ext cx="3383280" cy="914400"/>
          </a:xfrm>
          <a:prstGeom prst="rect">
            <a:avLst/>
          </a:prstGeom>
          <a:solidFill>
            <a:srgbClr val="F0F9FF"/>
          </a:solidFill>
          <a:ln w="10160">
            <a:solidFill>
              <a:srgbClr val="C8D1DD"/>
            </a:solidFill>
          </a:ln>
        </p:spPr>
        <p:txBody>
          <a:bodyPr wrap="square" lIns="1524" tIns="1524" rIns="1524" bIns="1524" rtlCol="0" anchor="t">
            <a:normAutofit lnSpcReduction="10000"/>
          </a:bodyPr>
          <a:lstStyle/>
          <a:p>
            <a:r>
              <a:rPr lang="en-US" sz="1450" b="1" dirty="0">
                <a:solidFill>
                  <a:srgbClr val="073B72"/>
                </a:solidFill>
              </a:rPr>
              <a:t>Alert Output
</a:t>
            </a:r>
            <a:r>
              <a:rPr lang="en-PK" sz="1600" dirty="0"/>
              <a:t>Severity ≥ 7</a:t>
            </a:r>
            <a:br>
              <a:rPr lang="en-PK" sz="1600" dirty="0"/>
            </a:br>
            <a:r>
              <a:rPr lang="en-PK" sz="1600" dirty="0"/>
              <a:t>OR</a:t>
            </a:r>
            <a:br>
              <a:rPr lang="en-PK" sz="1600" dirty="0"/>
            </a:br>
            <a:r>
              <a:rPr lang="en-PK" sz="1600" dirty="0"/>
              <a:t>Incident Count ≥ 2</a:t>
            </a:r>
            <a:endParaRPr lang="en-US" sz="1450" dirty="0"/>
          </a:p>
        </p:txBody>
      </p:sp>
      <p:sp>
        <p:nvSpPr>
          <p:cNvPr id="9" name="Text 7"/>
          <p:cNvSpPr/>
          <p:nvPr/>
        </p:nvSpPr>
        <p:spPr>
          <a:xfrm>
            <a:off x="685800" y="2743199"/>
            <a:ext cx="10789920" cy="2918691"/>
          </a:xfrm>
          <a:prstGeom prst="rect">
            <a:avLst/>
          </a:prstGeom>
          <a:solidFill>
            <a:srgbClr val="F4F6F8"/>
          </a:solidFill>
          <a:ln w="10160">
            <a:solidFill>
              <a:srgbClr val="C8D1DD"/>
            </a:solidFill>
          </a:ln>
        </p:spPr>
        <p:txBody>
          <a:bodyPr wrap="square" lIns="1524" tIns="1524" rIns="1524" bIns="1524" rtlCol="0" anchor="t">
            <a:normAutofit/>
          </a:bodyPr>
          <a:lstStyle/>
          <a:p>
            <a:pPr marL="0" indent="0">
              <a:buNone/>
            </a:pPr>
            <a:r>
              <a:rPr lang="en-US" sz="1450" b="1" dirty="0">
                <a:solidFill>
                  <a:srgbClr val="073B72"/>
                </a:solidFill>
              </a:rPr>
              <a:t>n8n Screenshot Placeholder
</a:t>
            </a:r>
            <a:endParaRPr lang="en-US" sz="1450" dirty="0"/>
          </a:p>
        </p:txBody>
      </p:sp>
      <p:sp>
        <p:nvSpPr>
          <p:cNvPr id="25" name="Slide Number Placeholder 0"/>
          <p:cNvSpPr>
            <a:spLocks noGrp="1"/>
          </p:cNvSpPr>
          <p:nvPr>
            <p:ph type="sldNum" sz="quarter" idx="4294967295"/>
          </p:nvPr>
        </p:nvSpPr>
        <p:spPr>
          <a:xfrm>
            <a:off x="1120140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7A8796"/>
                </a:solidFill>
              </a:defRPr>
            </a:lvl1pPr>
          </a:lstStyle>
          <a:p>
            <a:pPr algn="l"/>
            <a:fld id="{F7021451-1387-4CA6-816F-3879F97B5CBC}" type="slidenum">
              <a:rPr lang="en-US" b="0"/>
              <a:t>17</a:t>
            </a:fld>
            <a:endParaRPr lang="en-US"/>
          </a:p>
        </p:txBody>
      </p:sp>
      <p:pic>
        <p:nvPicPr>
          <p:cNvPr id="13" name="Picture 12">
            <a:extLst>
              <a:ext uri="{FF2B5EF4-FFF2-40B4-BE49-F238E27FC236}">
                <a16:creationId xmlns:a16="http://schemas.microsoft.com/office/drawing/2014/main" id="{81991C13-E446-7838-258A-FB196FE962EC}"/>
              </a:ext>
            </a:extLst>
          </p:cNvPr>
          <p:cNvPicPr>
            <a:picLocks noChangeAspect="1"/>
          </p:cNvPicPr>
          <p:nvPr/>
        </p:nvPicPr>
        <p:blipFill>
          <a:blip r:embed="rId3"/>
          <a:stretch>
            <a:fillRect/>
          </a:stretch>
        </p:blipFill>
        <p:spPr>
          <a:xfrm>
            <a:off x="685800" y="3088919"/>
            <a:ext cx="10789920" cy="257297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11480" y="256032"/>
            <a:ext cx="11338560" cy="411480"/>
          </a:xfrm>
          <a:prstGeom prst="rect">
            <a:avLst/>
          </a:prstGeom>
          <a:noFill/>
          <a:ln/>
        </p:spPr>
        <p:txBody>
          <a:bodyPr wrap="square" lIns="0" tIns="0" rIns="0" bIns="0" rtlCol="0" anchor="ctr">
            <a:normAutofit/>
          </a:bodyPr>
          <a:lstStyle/>
          <a:p>
            <a:pPr marL="0" indent="0">
              <a:buNone/>
            </a:pPr>
            <a:r>
              <a:rPr lang="en-US" sz="2500" b="1" dirty="0">
                <a:solidFill>
                  <a:srgbClr val="073B72"/>
                </a:solidFill>
                <a:latin typeface="Aptos Display" pitchFamily="34" charset="0"/>
                <a:ea typeface="Aptos Display" pitchFamily="34" charset="-122"/>
                <a:cs typeface="Aptos Display" pitchFamily="34" charset="-120"/>
              </a:rPr>
              <a:t>16. Streamlit Dashboard / Application</a:t>
            </a:r>
            <a:endParaRPr lang="en-US" sz="2500" dirty="0"/>
          </a:p>
        </p:txBody>
      </p:sp>
      <p:sp>
        <p:nvSpPr>
          <p:cNvPr id="3" name="Text 1"/>
          <p:cNvSpPr/>
          <p:nvPr/>
        </p:nvSpPr>
        <p:spPr>
          <a:xfrm>
            <a:off x="429768" y="713232"/>
            <a:ext cx="11247120" cy="256032"/>
          </a:xfrm>
          <a:prstGeom prst="rect">
            <a:avLst/>
          </a:prstGeom>
          <a:noFill/>
          <a:ln/>
        </p:spPr>
        <p:txBody>
          <a:bodyPr wrap="square" lIns="0" tIns="0" rIns="0" bIns="0" rtlCol="0" anchor="ctr">
            <a:normAutofit/>
          </a:bodyPr>
          <a:lstStyle/>
          <a:p>
            <a:pPr marL="0" indent="0">
              <a:buNone/>
            </a:pPr>
            <a:r>
              <a:rPr lang="en-US" sz="1150" dirty="0">
                <a:solidFill>
                  <a:srgbClr val="56606B"/>
                </a:solidFill>
              </a:rPr>
              <a:t>Show live interface and main features.</a:t>
            </a:r>
            <a:endParaRPr lang="en-US" sz="1150" dirty="0"/>
          </a:p>
        </p:txBody>
      </p:sp>
      <p:sp>
        <p:nvSpPr>
          <p:cNvPr id="4" name="Shape 2"/>
          <p:cNvSpPr/>
          <p:nvPr/>
        </p:nvSpPr>
        <p:spPr>
          <a:xfrm>
            <a:off x="411480" y="1024128"/>
            <a:ext cx="11338560" cy="0"/>
          </a:xfrm>
          <a:prstGeom prst="line">
            <a:avLst/>
          </a:prstGeom>
          <a:noFill/>
          <a:ln w="12700">
            <a:solidFill>
              <a:srgbClr val="C8D1DD"/>
            </a:solidFill>
            <a:prstDash val="solid"/>
          </a:ln>
        </p:spPr>
      </p:sp>
      <p:sp>
        <p:nvSpPr>
          <p:cNvPr id="5" name="Text 3"/>
          <p:cNvSpPr/>
          <p:nvPr/>
        </p:nvSpPr>
        <p:spPr>
          <a:xfrm>
            <a:off x="411480" y="6510528"/>
            <a:ext cx="6858000" cy="164592"/>
          </a:xfrm>
          <a:prstGeom prst="rect">
            <a:avLst/>
          </a:prstGeom>
          <a:noFill/>
          <a:ln/>
        </p:spPr>
        <p:txBody>
          <a:bodyPr wrap="square" lIns="0" tIns="0" rIns="0" bIns="0" rtlCol="0" anchor="ctr">
            <a:normAutofit/>
          </a:bodyPr>
          <a:lstStyle/>
          <a:p>
            <a:pPr marL="0" indent="0">
              <a:buNone/>
            </a:pPr>
            <a:r>
              <a:rPr lang="en-US" sz="780" dirty="0">
                <a:solidFill>
                  <a:srgbClr val="7A8796"/>
                </a:solidFill>
              </a:rPr>
              <a:t>Tools &amp; Techniques End-to-End Data Pipeline Capstone</a:t>
            </a:r>
            <a:endParaRPr lang="en-US" sz="780" dirty="0"/>
          </a:p>
        </p:txBody>
      </p:sp>
      <p:sp>
        <p:nvSpPr>
          <p:cNvPr id="6" name="Text 4"/>
          <p:cNvSpPr/>
          <p:nvPr/>
        </p:nvSpPr>
        <p:spPr>
          <a:xfrm>
            <a:off x="685800" y="1325880"/>
            <a:ext cx="5486400" cy="2743200"/>
          </a:xfrm>
          <a:prstGeom prst="rect">
            <a:avLst/>
          </a:prstGeom>
          <a:solidFill>
            <a:srgbClr val="F4F6F8"/>
          </a:solidFill>
          <a:ln w="10160">
            <a:solidFill>
              <a:srgbClr val="C8D1DD"/>
            </a:solidFill>
          </a:ln>
        </p:spPr>
        <p:txBody>
          <a:bodyPr wrap="square" lIns="1524" tIns="1524" rIns="1524" bIns="1524" rtlCol="0" anchor="t">
            <a:normAutofit/>
          </a:bodyPr>
          <a:lstStyle/>
          <a:p>
            <a:pPr marL="0" indent="0">
              <a:buNone/>
            </a:pPr>
            <a:r>
              <a:rPr lang="en-US" sz="1450" b="1" dirty="0">
                <a:solidFill>
                  <a:srgbClr val="073B72"/>
                </a:solidFill>
              </a:rPr>
              <a:t>Dashboard Screenshot Placeholder
</a:t>
            </a:r>
            <a:endParaRPr lang="en-US" sz="1450" dirty="0"/>
          </a:p>
        </p:txBody>
      </p:sp>
      <p:sp>
        <p:nvSpPr>
          <p:cNvPr id="7" name="Text 5"/>
          <p:cNvSpPr/>
          <p:nvPr/>
        </p:nvSpPr>
        <p:spPr>
          <a:xfrm>
            <a:off x="6446520" y="1325880"/>
            <a:ext cx="5029200" cy="2743200"/>
          </a:xfrm>
          <a:prstGeom prst="rect">
            <a:avLst/>
          </a:prstGeom>
          <a:solidFill>
            <a:srgbClr val="EAF3FF"/>
          </a:solidFill>
          <a:ln w="10160">
            <a:solidFill>
              <a:srgbClr val="C8D1DD"/>
            </a:solidFill>
          </a:ln>
        </p:spPr>
        <p:txBody>
          <a:bodyPr wrap="square" lIns="1524" tIns="1524" rIns="1524" bIns="1524" rtlCol="0" anchor="t">
            <a:normAutofit/>
          </a:bodyPr>
          <a:lstStyle/>
          <a:p>
            <a:r>
              <a:rPr lang="en-US" sz="1450" b="1" dirty="0">
                <a:solidFill>
                  <a:srgbClr val="073B72"/>
                </a:solidFill>
              </a:rPr>
              <a:t>Main Features
</a:t>
            </a:r>
            <a:r>
              <a:rPr lang="en-PK" sz="1600" dirty="0"/>
              <a:t>Crime Map </a:t>
            </a:r>
            <a:endParaRPr lang="en-GB" sz="1600" dirty="0"/>
          </a:p>
          <a:p>
            <a:r>
              <a:rPr lang="en-PK" sz="1600" dirty="0"/>
              <a:t>Trend Charts </a:t>
            </a:r>
            <a:endParaRPr lang="en-GB" sz="1600" dirty="0"/>
          </a:p>
          <a:p>
            <a:r>
              <a:rPr lang="en-PK" sz="1600" dirty="0"/>
              <a:t>Category Breakdown </a:t>
            </a:r>
            <a:endParaRPr lang="en-GB" sz="1600" dirty="0"/>
          </a:p>
          <a:p>
            <a:r>
              <a:rPr lang="en-PK" sz="1600" dirty="0"/>
              <a:t>Heatmap </a:t>
            </a:r>
            <a:endParaRPr lang="en-GB" sz="1600" dirty="0"/>
          </a:p>
          <a:p>
            <a:r>
              <a:rPr lang="en-PK" sz="1600" dirty="0"/>
              <a:t>Sidebar Filters</a:t>
            </a:r>
            <a:endParaRPr lang="en-US" sz="1450" dirty="0"/>
          </a:p>
        </p:txBody>
      </p:sp>
      <p:sp>
        <p:nvSpPr>
          <p:cNvPr id="25" name="Slide Number Placeholder 0"/>
          <p:cNvSpPr>
            <a:spLocks noGrp="1"/>
          </p:cNvSpPr>
          <p:nvPr>
            <p:ph type="sldNum" sz="quarter" idx="4294967295"/>
          </p:nvPr>
        </p:nvSpPr>
        <p:spPr>
          <a:xfrm>
            <a:off x="1120140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7A8796"/>
                </a:solidFill>
              </a:defRPr>
            </a:lvl1pPr>
          </a:lstStyle>
          <a:p>
            <a:pPr algn="l"/>
            <a:fld id="{F7021451-1387-4CA6-816F-3879F97B5CBC}" type="slidenum">
              <a:rPr lang="en-US" b="0"/>
              <a:t>18</a:t>
            </a:fld>
            <a:endParaRPr lang="en-US"/>
          </a:p>
        </p:txBody>
      </p:sp>
      <p:pic>
        <p:nvPicPr>
          <p:cNvPr id="13" name="Picture 12">
            <a:extLst>
              <a:ext uri="{FF2B5EF4-FFF2-40B4-BE49-F238E27FC236}">
                <a16:creationId xmlns:a16="http://schemas.microsoft.com/office/drawing/2014/main" id="{1243207D-F549-7075-C32E-1D803ECDE1BD}"/>
              </a:ext>
            </a:extLst>
          </p:cNvPr>
          <p:cNvPicPr>
            <a:picLocks noChangeAspect="1"/>
          </p:cNvPicPr>
          <p:nvPr/>
        </p:nvPicPr>
        <p:blipFill>
          <a:blip r:embed="rId3"/>
          <a:stretch>
            <a:fillRect/>
          </a:stretch>
        </p:blipFill>
        <p:spPr>
          <a:xfrm>
            <a:off x="702289" y="1579419"/>
            <a:ext cx="5453421" cy="239221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11480" y="256032"/>
            <a:ext cx="11338560" cy="411480"/>
          </a:xfrm>
          <a:prstGeom prst="rect">
            <a:avLst/>
          </a:prstGeom>
          <a:noFill/>
          <a:ln/>
        </p:spPr>
        <p:txBody>
          <a:bodyPr wrap="square" lIns="0" tIns="0" rIns="0" bIns="0" rtlCol="0" anchor="ctr">
            <a:normAutofit/>
          </a:bodyPr>
          <a:lstStyle/>
          <a:p>
            <a:pPr marL="0" indent="0">
              <a:buNone/>
            </a:pPr>
            <a:r>
              <a:rPr lang="en-US" sz="2500" b="1" dirty="0">
                <a:solidFill>
                  <a:srgbClr val="073B72"/>
                </a:solidFill>
                <a:latin typeface="Aptos Display" pitchFamily="34" charset="0"/>
                <a:ea typeface="Aptos Display" pitchFamily="34" charset="-122"/>
                <a:cs typeface="Aptos Display" pitchFamily="34" charset="-120"/>
              </a:rPr>
              <a:t>17. Docker and Deployment</a:t>
            </a:r>
            <a:endParaRPr lang="en-US" sz="2500" dirty="0"/>
          </a:p>
        </p:txBody>
      </p:sp>
      <p:sp>
        <p:nvSpPr>
          <p:cNvPr id="3" name="Text 1"/>
          <p:cNvSpPr/>
          <p:nvPr/>
        </p:nvSpPr>
        <p:spPr>
          <a:xfrm>
            <a:off x="429768" y="713232"/>
            <a:ext cx="11247120" cy="256032"/>
          </a:xfrm>
          <a:prstGeom prst="rect">
            <a:avLst/>
          </a:prstGeom>
          <a:noFill/>
          <a:ln/>
        </p:spPr>
        <p:txBody>
          <a:bodyPr wrap="square" lIns="0" tIns="0" rIns="0" bIns="0" rtlCol="0" anchor="ctr">
            <a:normAutofit/>
          </a:bodyPr>
          <a:lstStyle/>
          <a:p>
            <a:pPr marL="0" indent="0">
              <a:buNone/>
            </a:pPr>
            <a:r>
              <a:rPr lang="en-US" sz="1150" dirty="0">
                <a:solidFill>
                  <a:srgbClr val="56606B"/>
                </a:solidFill>
              </a:rPr>
              <a:t>Show how the project runs outside your notebook.</a:t>
            </a:r>
            <a:endParaRPr lang="en-US" sz="1150" dirty="0"/>
          </a:p>
        </p:txBody>
      </p:sp>
      <p:sp>
        <p:nvSpPr>
          <p:cNvPr id="4" name="Shape 2"/>
          <p:cNvSpPr/>
          <p:nvPr/>
        </p:nvSpPr>
        <p:spPr>
          <a:xfrm>
            <a:off x="411480" y="1024128"/>
            <a:ext cx="11338560" cy="0"/>
          </a:xfrm>
          <a:prstGeom prst="line">
            <a:avLst/>
          </a:prstGeom>
          <a:noFill/>
          <a:ln w="12700">
            <a:solidFill>
              <a:srgbClr val="C8D1DD"/>
            </a:solidFill>
            <a:prstDash val="solid"/>
          </a:ln>
        </p:spPr>
      </p:sp>
      <p:sp>
        <p:nvSpPr>
          <p:cNvPr id="5" name="Text 3"/>
          <p:cNvSpPr/>
          <p:nvPr/>
        </p:nvSpPr>
        <p:spPr>
          <a:xfrm>
            <a:off x="411480" y="6510528"/>
            <a:ext cx="6858000" cy="164592"/>
          </a:xfrm>
          <a:prstGeom prst="rect">
            <a:avLst/>
          </a:prstGeom>
          <a:noFill/>
          <a:ln/>
        </p:spPr>
        <p:txBody>
          <a:bodyPr wrap="square" lIns="0" tIns="0" rIns="0" bIns="0" rtlCol="0" anchor="ctr">
            <a:normAutofit/>
          </a:bodyPr>
          <a:lstStyle/>
          <a:p>
            <a:pPr marL="0" indent="0">
              <a:buNone/>
            </a:pPr>
            <a:r>
              <a:rPr lang="en-US" sz="780" dirty="0">
                <a:solidFill>
                  <a:srgbClr val="7A8796"/>
                </a:solidFill>
              </a:rPr>
              <a:t>Tools &amp; Techniques End-to-End Data Pipeline Capstone</a:t>
            </a:r>
            <a:endParaRPr lang="en-US" sz="780" dirty="0"/>
          </a:p>
        </p:txBody>
      </p:sp>
      <p:sp>
        <p:nvSpPr>
          <p:cNvPr id="6" name="Text 4"/>
          <p:cNvSpPr/>
          <p:nvPr/>
        </p:nvSpPr>
        <p:spPr>
          <a:xfrm>
            <a:off x="502920" y="1325880"/>
            <a:ext cx="11155680" cy="3017520"/>
          </a:xfrm>
          <a:prstGeom prst="rect">
            <a:avLst/>
          </a:prstGeom>
          <a:solidFill>
            <a:srgbClr val="F8FAFC"/>
          </a:solidFill>
          <a:ln w="10160">
            <a:solidFill>
              <a:srgbClr val="C8D1DD"/>
            </a:solidFill>
          </a:ln>
        </p:spPr>
        <p:txBody>
          <a:bodyPr wrap="square" lIns="1143" tIns="1143" rIns="1143" bIns="1143" rtlCol="0" anchor="t">
            <a:normAutofit/>
          </a:bodyPr>
          <a:lstStyle/>
          <a:p>
            <a:pPr marL="0" indent="0">
              <a:buNone/>
            </a:pPr>
            <a:endParaRPr lang="en-US" sz="930" dirty="0"/>
          </a:p>
        </p:txBody>
      </p:sp>
      <p:sp>
        <p:nvSpPr>
          <p:cNvPr id="7" name="Text 5"/>
          <p:cNvSpPr/>
          <p:nvPr/>
        </p:nvSpPr>
        <p:spPr>
          <a:xfrm>
            <a:off x="658368" y="4470400"/>
            <a:ext cx="10789920" cy="1948687"/>
          </a:xfrm>
          <a:prstGeom prst="rect">
            <a:avLst/>
          </a:prstGeom>
          <a:solidFill>
            <a:srgbClr val="FFF2F2"/>
          </a:solidFill>
          <a:ln w="10160">
            <a:solidFill>
              <a:srgbClr val="C8D1DD"/>
            </a:solidFill>
          </a:ln>
        </p:spPr>
        <p:txBody>
          <a:bodyPr wrap="square" lIns="1524" tIns="1524" rIns="1524" bIns="1524" rtlCol="0" anchor="t">
            <a:normAutofit/>
          </a:bodyPr>
          <a:lstStyle/>
          <a:p>
            <a:r>
              <a:rPr lang="en-US" sz="1450" b="1" dirty="0">
                <a:solidFill>
                  <a:srgbClr val="073B72"/>
                </a:solidFill>
              </a:rPr>
              <a:t>If Docker Was Skipped
</a:t>
            </a:r>
            <a:r>
              <a:rPr lang="en-PK" sz="1600" dirty="0"/>
              <a:t>Docker deployment was skipped due to limited system resources and time constraints. The team focused on implementing and testing the core functionalities of the project.</a:t>
            </a:r>
          </a:p>
          <a:p>
            <a:r>
              <a:rPr lang="en-PK" sz="1600" b="1" dirty="0"/>
              <a:t>Alternative Deployment Proof:</a:t>
            </a:r>
            <a:endParaRPr lang="en-PK" sz="1600" dirty="0"/>
          </a:p>
          <a:p>
            <a:r>
              <a:rPr lang="en-PK" sz="1600" dirty="0"/>
              <a:t>Airflow DAG executed successfully locally. </a:t>
            </a:r>
          </a:p>
          <a:p>
            <a:r>
              <a:rPr lang="en-PK" sz="1600" dirty="0"/>
              <a:t>n8n workflow generated alerts correctly. </a:t>
            </a:r>
          </a:p>
          <a:p>
            <a:r>
              <a:rPr lang="en-PK" sz="1600" dirty="0" err="1"/>
              <a:t>Streamlit</a:t>
            </a:r>
            <a:r>
              <a:rPr lang="en-PK" sz="1600" dirty="0"/>
              <a:t> dashboard ran successfully on localhost. </a:t>
            </a:r>
          </a:p>
          <a:p>
            <a:r>
              <a:rPr lang="en-PK" sz="1600" dirty="0"/>
              <a:t>Complete pipeline was tested end-to-end in the local environment.</a:t>
            </a:r>
          </a:p>
          <a:p>
            <a:pPr marL="0" indent="0">
              <a:buNone/>
            </a:pPr>
            <a:endParaRPr lang="en-US" sz="1450" dirty="0"/>
          </a:p>
        </p:txBody>
      </p:sp>
      <p:sp>
        <p:nvSpPr>
          <p:cNvPr id="25" name="Slide Number Placeholder 0"/>
          <p:cNvSpPr>
            <a:spLocks noGrp="1"/>
          </p:cNvSpPr>
          <p:nvPr>
            <p:ph type="sldNum" sz="quarter" idx="4294967295"/>
          </p:nvPr>
        </p:nvSpPr>
        <p:spPr>
          <a:xfrm>
            <a:off x="1120140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7A8796"/>
                </a:solidFill>
              </a:defRPr>
            </a:lvl1pPr>
          </a:lstStyle>
          <a:p>
            <a:pPr algn="l"/>
            <a:fld id="{F7021451-1387-4CA6-816F-3879F97B5CBC}" type="slidenum">
              <a:rPr lang="en-US" b="0"/>
              <a:t>19</a:t>
            </a:fld>
            <a:endParaRPr lang="en-US"/>
          </a:p>
        </p:txBody>
      </p:sp>
      <p:graphicFrame>
        <p:nvGraphicFramePr>
          <p:cNvPr id="9" name="Table 8">
            <a:extLst>
              <a:ext uri="{FF2B5EF4-FFF2-40B4-BE49-F238E27FC236}">
                <a16:creationId xmlns:a16="http://schemas.microsoft.com/office/drawing/2014/main" id="{1369F9F8-B278-1864-B774-5AAB784692EF}"/>
              </a:ext>
            </a:extLst>
          </p:cNvPr>
          <p:cNvGraphicFramePr>
            <a:graphicFrameLocks noGrp="1"/>
          </p:cNvGraphicFramePr>
          <p:nvPr>
            <p:extLst>
              <p:ext uri="{D42A27DB-BD31-4B8C-83A1-F6EECF244321}">
                <p14:modId xmlns:p14="http://schemas.microsoft.com/office/powerpoint/2010/main" val="1551236551"/>
              </p:ext>
            </p:extLst>
          </p:nvPr>
        </p:nvGraphicFramePr>
        <p:xfrm>
          <a:off x="795528" y="1594759"/>
          <a:ext cx="10515600" cy="2194560"/>
        </p:xfrm>
        <a:graphic>
          <a:graphicData uri="http://schemas.openxmlformats.org/drawingml/2006/table">
            <a:tbl>
              <a:tblPr/>
              <a:tblGrid>
                <a:gridCol w="5257800">
                  <a:extLst>
                    <a:ext uri="{9D8B030D-6E8A-4147-A177-3AD203B41FA5}">
                      <a16:colId xmlns:a16="http://schemas.microsoft.com/office/drawing/2014/main" val="1090500068"/>
                    </a:ext>
                  </a:extLst>
                </a:gridCol>
                <a:gridCol w="5257800">
                  <a:extLst>
                    <a:ext uri="{9D8B030D-6E8A-4147-A177-3AD203B41FA5}">
                      <a16:colId xmlns:a16="http://schemas.microsoft.com/office/drawing/2014/main" val="57755376"/>
                    </a:ext>
                  </a:extLst>
                </a:gridCol>
              </a:tblGrid>
              <a:tr h="0">
                <a:tc>
                  <a:txBody>
                    <a:bodyPr/>
                    <a:lstStyle/>
                    <a:p>
                      <a:pPr>
                        <a:buNone/>
                      </a:pPr>
                      <a:r>
                        <a:rPr lang="en-PK" b="1" dirty="0"/>
                        <a:t>Item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b="1" dirty="0"/>
                        <a:t>Details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3076249"/>
                  </a:ext>
                </a:extLst>
              </a:tr>
              <a:tr h="0">
                <a:tc>
                  <a:txBody>
                    <a:bodyPr/>
                    <a:lstStyle/>
                    <a:p>
                      <a:pPr>
                        <a:buNone/>
                      </a:pPr>
                      <a:r>
                        <a:rPr lang="en-PK" dirty="0"/>
                        <a:t>Docker Compose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6125764"/>
                  </a:ext>
                </a:extLst>
              </a:tr>
              <a:tr h="0">
                <a:tc>
                  <a:txBody>
                    <a:bodyPr/>
                    <a:lstStyle/>
                    <a:p>
                      <a:pPr>
                        <a:buNone/>
                      </a:pPr>
                      <a:r>
                        <a:rPr lang="en-PK"/>
                        <a:t>Airflow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Container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25580956"/>
                  </a:ext>
                </a:extLst>
              </a:tr>
              <a:tr h="0">
                <a:tc>
                  <a:txBody>
                    <a:bodyPr/>
                    <a:lstStyle/>
                    <a:p>
                      <a:pPr>
                        <a:buNone/>
                      </a:pPr>
                      <a:r>
                        <a:rPr lang="en-PK"/>
                        <a:t>n8n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Container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88595352"/>
                  </a:ext>
                </a:extLst>
              </a:tr>
              <a:tr h="0">
                <a:tc>
                  <a:txBody>
                    <a:bodyPr/>
                    <a:lstStyle/>
                    <a:p>
                      <a:pPr>
                        <a:buNone/>
                      </a:pPr>
                      <a:r>
                        <a:rPr lang="en-PK"/>
                        <a:t>Streamlit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Container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9595011"/>
                  </a:ext>
                </a:extLst>
              </a:tr>
              <a:tr h="0">
                <a:tc>
                  <a:txBody>
                    <a:bodyPr/>
                    <a:lstStyle/>
                    <a:p>
                      <a:pPr>
                        <a:buNone/>
                      </a:pPr>
                      <a:r>
                        <a:rPr lang="en-PK"/>
                        <a:t>Postgres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Container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9529979"/>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11480" y="256032"/>
            <a:ext cx="11338560" cy="411480"/>
          </a:xfrm>
          <a:prstGeom prst="rect">
            <a:avLst/>
          </a:prstGeom>
          <a:noFill/>
          <a:ln/>
        </p:spPr>
        <p:txBody>
          <a:bodyPr wrap="square" lIns="0" tIns="0" rIns="0" bIns="0" rtlCol="0" anchor="ctr">
            <a:normAutofit/>
          </a:bodyPr>
          <a:lstStyle/>
          <a:p>
            <a:pPr marL="0" indent="0">
              <a:buNone/>
            </a:pPr>
            <a:r>
              <a:rPr lang="en-US" sz="2500" b="1" dirty="0">
                <a:solidFill>
                  <a:srgbClr val="073B72"/>
                </a:solidFill>
                <a:latin typeface="Aptos Display" pitchFamily="34" charset="0"/>
                <a:ea typeface="Aptos Display" pitchFamily="34" charset="-122"/>
                <a:cs typeface="Aptos Display" pitchFamily="34" charset="-120"/>
              </a:rPr>
              <a:t>18. GitHub Collaboration and Version Control</a:t>
            </a:r>
            <a:endParaRPr lang="en-US" sz="2500" dirty="0"/>
          </a:p>
        </p:txBody>
      </p:sp>
      <p:sp>
        <p:nvSpPr>
          <p:cNvPr id="3" name="Text 1"/>
          <p:cNvSpPr/>
          <p:nvPr/>
        </p:nvSpPr>
        <p:spPr>
          <a:xfrm>
            <a:off x="429768" y="713232"/>
            <a:ext cx="11247120" cy="256032"/>
          </a:xfrm>
          <a:prstGeom prst="rect">
            <a:avLst/>
          </a:prstGeom>
          <a:noFill/>
          <a:ln/>
        </p:spPr>
        <p:txBody>
          <a:bodyPr wrap="square" lIns="0" tIns="0" rIns="0" bIns="0" rtlCol="0" anchor="ctr">
            <a:normAutofit/>
          </a:bodyPr>
          <a:lstStyle/>
          <a:p>
            <a:pPr marL="0" indent="0">
              <a:buNone/>
            </a:pPr>
            <a:r>
              <a:rPr lang="en-US" sz="1150" dirty="0">
                <a:solidFill>
                  <a:srgbClr val="56606B"/>
                </a:solidFill>
              </a:rPr>
              <a:t>Show real contribution proof.</a:t>
            </a:r>
            <a:endParaRPr lang="en-US" sz="1150" dirty="0"/>
          </a:p>
        </p:txBody>
      </p:sp>
      <p:sp>
        <p:nvSpPr>
          <p:cNvPr id="4" name="Shape 2"/>
          <p:cNvSpPr/>
          <p:nvPr/>
        </p:nvSpPr>
        <p:spPr>
          <a:xfrm>
            <a:off x="411480" y="1024128"/>
            <a:ext cx="11338560" cy="0"/>
          </a:xfrm>
          <a:prstGeom prst="line">
            <a:avLst/>
          </a:prstGeom>
          <a:noFill/>
          <a:ln w="12700">
            <a:solidFill>
              <a:srgbClr val="C8D1DD"/>
            </a:solidFill>
            <a:prstDash val="solid"/>
          </a:ln>
        </p:spPr>
      </p:sp>
      <p:sp>
        <p:nvSpPr>
          <p:cNvPr id="5" name="Text 3"/>
          <p:cNvSpPr/>
          <p:nvPr/>
        </p:nvSpPr>
        <p:spPr>
          <a:xfrm>
            <a:off x="411480" y="6510528"/>
            <a:ext cx="6858000" cy="164592"/>
          </a:xfrm>
          <a:prstGeom prst="rect">
            <a:avLst/>
          </a:prstGeom>
          <a:noFill/>
          <a:ln/>
        </p:spPr>
        <p:txBody>
          <a:bodyPr wrap="square" lIns="0" tIns="0" rIns="0" bIns="0" rtlCol="0" anchor="ctr">
            <a:normAutofit/>
          </a:bodyPr>
          <a:lstStyle/>
          <a:p>
            <a:pPr marL="0" indent="0">
              <a:buNone/>
            </a:pPr>
            <a:r>
              <a:rPr lang="en-US" sz="780" dirty="0">
                <a:solidFill>
                  <a:srgbClr val="7A8796"/>
                </a:solidFill>
              </a:rPr>
              <a:t>Tools &amp; Techniques End-to-End Data Pipeline Capstone</a:t>
            </a:r>
            <a:endParaRPr lang="en-US" sz="780" dirty="0"/>
          </a:p>
        </p:txBody>
      </p:sp>
      <p:sp>
        <p:nvSpPr>
          <p:cNvPr id="6" name="Text 4"/>
          <p:cNvSpPr/>
          <p:nvPr/>
        </p:nvSpPr>
        <p:spPr>
          <a:xfrm>
            <a:off x="685800" y="1325880"/>
            <a:ext cx="10789920" cy="594360"/>
          </a:xfrm>
          <a:prstGeom prst="rect">
            <a:avLst/>
          </a:prstGeom>
          <a:solidFill>
            <a:srgbClr val="F0F9FF"/>
          </a:solidFill>
          <a:ln w="10160">
            <a:solidFill>
              <a:srgbClr val="C8D1DD"/>
            </a:solidFill>
          </a:ln>
        </p:spPr>
        <p:txBody>
          <a:bodyPr wrap="square" lIns="1524" tIns="1524" rIns="1524" bIns="1524" rtlCol="0" anchor="t">
            <a:normAutofit/>
          </a:bodyPr>
          <a:lstStyle/>
          <a:p>
            <a:r>
              <a:rPr lang="en-US" sz="1450" b="1" dirty="0">
                <a:solidFill>
                  <a:srgbClr val="073B72"/>
                </a:solidFill>
              </a:rPr>
              <a:t>Repository Link
</a:t>
            </a:r>
            <a:r>
              <a:rPr lang="en-PK" sz="1600" dirty="0">
                <a:hlinkClick r:id="rId3"/>
              </a:rPr>
              <a:t>Zeeshan12m/</a:t>
            </a:r>
            <a:r>
              <a:rPr lang="en-PK" sz="1600" dirty="0" err="1">
                <a:hlinkClick r:id="rId3"/>
              </a:rPr>
              <a:t>pakistan</a:t>
            </a:r>
            <a:r>
              <a:rPr lang="en-PK" sz="1600" dirty="0">
                <a:hlinkClick r:id="rId3"/>
              </a:rPr>
              <a:t>-crime-pipeline</a:t>
            </a:r>
            <a:endParaRPr lang="en-US" sz="1450" dirty="0"/>
          </a:p>
        </p:txBody>
      </p:sp>
      <p:sp>
        <p:nvSpPr>
          <p:cNvPr id="7" name="Text 5"/>
          <p:cNvSpPr/>
          <p:nvPr/>
        </p:nvSpPr>
        <p:spPr>
          <a:xfrm>
            <a:off x="822960" y="2148840"/>
            <a:ext cx="10546080" cy="1719068"/>
          </a:xfrm>
          <a:prstGeom prst="rect">
            <a:avLst/>
          </a:prstGeom>
          <a:solidFill>
            <a:srgbClr val="F8FAFC"/>
          </a:solidFill>
          <a:ln w="10160">
            <a:solidFill>
              <a:srgbClr val="C8D1DD"/>
            </a:solidFill>
          </a:ln>
        </p:spPr>
        <p:txBody>
          <a:bodyPr wrap="square" lIns="1143" tIns="1143" rIns="1143" bIns="1143" rtlCol="0" anchor="t">
            <a:normAutofit/>
          </a:bodyPr>
          <a:lstStyle/>
          <a:p>
            <a:pPr marL="0" indent="0">
              <a:buNone/>
            </a:pPr>
            <a:endParaRPr lang="en-US" sz="930" dirty="0"/>
          </a:p>
        </p:txBody>
      </p:sp>
      <p:sp>
        <p:nvSpPr>
          <p:cNvPr id="8" name="Text 6"/>
          <p:cNvSpPr/>
          <p:nvPr/>
        </p:nvSpPr>
        <p:spPr>
          <a:xfrm>
            <a:off x="822960" y="3902385"/>
            <a:ext cx="10789920" cy="2757655"/>
          </a:xfrm>
          <a:prstGeom prst="rect">
            <a:avLst/>
          </a:prstGeom>
          <a:solidFill>
            <a:srgbClr val="F4F6F8"/>
          </a:solidFill>
          <a:ln w="10160">
            <a:solidFill>
              <a:srgbClr val="C8D1DD"/>
            </a:solidFill>
          </a:ln>
        </p:spPr>
        <p:txBody>
          <a:bodyPr wrap="square" lIns="1524" tIns="1524" rIns="1524" bIns="1524" rtlCol="0" anchor="t">
            <a:normAutofit/>
          </a:bodyPr>
          <a:lstStyle/>
          <a:p>
            <a:pPr marL="0" indent="0">
              <a:buNone/>
            </a:pPr>
            <a:r>
              <a:rPr lang="en-US" sz="1450" b="1" dirty="0">
                <a:solidFill>
                  <a:srgbClr val="073B72"/>
                </a:solidFill>
              </a:rPr>
              <a:t>Repository Screenshot Placeholder</a:t>
            </a:r>
          </a:p>
          <a:p>
            <a:pPr marL="0" indent="0">
              <a:buNone/>
            </a:pPr>
            <a:endParaRPr lang="en-US" sz="1450" dirty="0"/>
          </a:p>
        </p:txBody>
      </p:sp>
      <p:sp>
        <p:nvSpPr>
          <p:cNvPr id="25" name="Slide Number Placeholder 0"/>
          <p:cNvSpPr>
            <a:spLocks noGrp="1"/>
          </p:cNvSpPr>
          <p:nvPr>
            <p:ph type="sldNum" sz="quarter" idx="4294967295"/>
          </p:nvPr>
        </p:nvSpPr>
        <p:spPr>
          <a:xfrm>
            <a:off x="1120140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7A8796"/>
                </a:solidFill>
              </a:defRPr>
            </a:lvl1pPr>
          </a:lstStyle>
          <a:p>
            <a:pPr algn="l"/>
            <a:fld id="{F7021451-1387-4CA6-816F-3879F97B5CBC}" type="slidenum">
              <a:rPr lang="en-US" b="0"/>
              <a:t>20</a:t>
            </a:fld>
            <a:endParaRPr lang="en-US"/>
          </a:p>
        </p:txBody>
      </p:sp>
      <p:graphicFrame>
        <p:nvGraphicFramePr>
          <p:cNvPr id="10" name="Table 9">
            <a:extLst>
              <a:ext uri="{FF2B5EF4-FFF2-40B4-BE49-F238E27FC236}">
                <a16:creationId xmlns:a16="http://schemas.microsoft.com/office/drawing/2014/main" id="{C7AC105B-89EB-DBC4-723E-2EF69E667E69}"/>
              </a:ext>
            </a:extLst>
          </p:cNvPr>
          <p:cNvGraphicFramePr>
            <a:graphicFrameLocks noGrp="1"/>
          </p:cNvGraphicFramePr>
          <p:nvPr>
            <p:extLst>
              <p:ext uri="{D42A27DB-BD31-4B8C-83A1-F6EECF244321}">
                <p14:modId xmlns:p14="http://schemas.microsoft.com/office/powerpoint/2010/main" val="121993941"/>
              </p:ext>
            </p:extLst>
          </p:nvPr>
        </p:nvGraphicFramePr>
        <p:xfrm>
          <a:off x="914400" y="2179792"/>
          <a:ext cx="9410932" cy="1463040"/>
        </p:xfrm>
        <a:graphic>
          <a:graphicData uri="http://schemas.openxmlformats.org/drawingml/2006/table">
            <a:tbl>
              <a:tblPr/>
              <a:tblGrid>
                <a:gridCol w="4705466">
                  <a:extLst>
                    <a:ext uri="{9D8B030D-6E8A-4147-A177-3AD203B41FA5}">
                      <a16:colId xmlns:a16="http://schemas.microsoft.com/office/drawing/2014/main" val="1696990959"/>
                    </a:ext>
                  </a:extLst>
                </a:gridCol>
                <a:gridCol w="4705466">
                  <a:extLst>
                    <a:ext uri="{9D8B030D-6E8A-4147-A177-3AD203B41FA5}">
                      <a16:colId xmlns:a16="http://schemas.microsoft.com/office/drawing/2014/main" val="2170245810"/>
                    </a:ext>
                  </a:extLst>
                </a:gridCol>
              </a:tblGrid>
              <a:tr h="252938">
                <a:tc>
                  <a:txBody>
                    <a:bodyPr/>
                    <a:lstStyle/>
                    <a:p>
                      <a:pPr>
                        <a:buNone/>
                      </a:pPr>
                      <a:r>
                        <a:rPr lang="en-PK" b="1" dirty="0"/>
                        <a:t>Member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b="1" dirty="0"/>
                        <a:t>Role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6682021"/>
                  </a:ext>
                </a:extLst>
              </a:tr>
              <a:tr h="252938">
                <a:tc>
                  <a:txBody>
                    <a:bodyPr/>
                    <a:lstStyle/>
                    <a:p>
                      <a:pPr>
                        <a:buNone/>
                      </a:pPr>
                      <a:r>
                        <a:rPr lang="en-PK" dirty="0"/>
                        <a:t>Zeeshan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Scraping</a:t>
                      </a:r>
                      <a:r>
                        <a:rPr lang="en-GB" dirty="0"/>
                        <a:t> + n8n</a:t>
                      </a:r>
                      <a:endParaRPr lang="en-PK"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9353462"/>
                  </a:ext>
                </a:extLst>
              </a:tr>
              <a:tr h="252938">
                <a:tc>
                  <a:txBody>
                    <a:bodyPr/>
                    <a:lstStyle/>
                    <a:p>
                      <a:pPr>
                        <a:buNone/>
                      </a:pPr>
                      <a:r>
                        <a:rPr lang="en-PK" dirty="0"/>
                        <a:t>Yahya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NLP + KNIME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61823411"/>
                  </a:ext>
                </a:extLst>
              </a:tr>
              <a:tr h="252938">
                <a:tc>
                  <a:txBody>
                    <a:bodyPr/>
                    <a:lstStyle/>
                    <a:p>
                      <a:pPr>
                        <a:buNone/>
                      </a:pPr>
                      <a:r>
                        <a:rPr lang="en-PK" dirty="0"/>
                        <a:t>Minhal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Airflow  + Dashboard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26854094"/>
                  </a:ext>
                </a:extLst>
              </a:tr>
            </a:tbl>
          </a:graphicData>
        </a:graphic>
      </p:graphicFrame>
      <p:pic>
        <p:nvPicPr>
          <p:cNvPr id="12" name="Picture 11">
            <a:extLst>
              <a:ext uri="{FF2B5EF4-FFF2-40B4-BE49-F238E27FC236}">
                <a16:creationId xmlns:a16="http://schemas.microsoft.com/office/drawing/2014/main" id="{1F6734FC-3E82-0BC8-43F5-7F030E3A5B41}"/>
              </a:ext>
            </a:extLst>
          </p:cNvPr>
          <p:cNvPicPr>
            <a:picLocks noChangeAspect="1"/>
          </p:cNvPicPr>
          <p:nvPr/>
        </p:nvPicPr>
        <p:blipFill>
          <a:blip r:embed="rId4"/>
          <a:stretch>
            <a:fillRect/>
          </a:stretch>
        </p:blipFill>
        <p:spPr>
          <a:xfrm>
            <a:off x="4378035" y="3982346"/>
            <a:ext cx="4331855" cy="273386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11480" y="256032"/>
            <a:ext cx="11338560" cy="411480"/>
          </a:xfrm>
          <a:prstGeom prst="rect">
            <a:avLst/>
          </a:prstGeom>
          <a:noFill/>
          <a:ln/>
        </p:spPr>
        <p:txBody>
          <a:bodyPr wrap="square" lIns="0" tIns="0" rIns="0" bIns="0" rtlCol="0" anchor="ctr">
            <a:normAutofit/>
          </a:bodyPr>
          <a:lstStyle/>
          <a:p>
            <a:pPr marL="0" indent="0">
              <a:buNone/>
            </a:pPr>
            <a:r>
              <a:rPr lang="en-US" sz="2500" b="1" dirty="0">
                <a:solidFill>
                  <a:srgbClr val="073B72"/>
                </a:solidFill>
                <a:latin typeface="Aptos Display" pitchFamily="34" charset="0"/>
                <a:ea typeface="Aptos Display" pitchFamily="34" charset="-122"/>
                <a:cs typeface="Aptos Display" pitchFamily="34" charset="-120"/>
              </a:rPr>
              <a:t>19. Final Results and Insights</a:t>
            </a:r>
            <a:endParaRPr lang="en-US" sz="2500" dirty="0"/>
          </a:p>
        </p:txBody>
      </p:sp>
      <p:sp>
        <p:nvSpPr>
          <p:cNvPr id="3" name="Text 1"/>
          <p:cNvSpPr/>
          <p:nvPr/>
        </p:nvSpPr>
        <p:spPr>
          <a:xfrm>
            <a:off x="429768" y="713232"/>
            <a:ext cx="11247120" cy="256032"/>
          </a:xfrm>
          <a:prstGeom prst="rect">
            <a:avLst/>
          </a:prstGeom>
          <a:noFill/>
          <a:ln/>
        </p:spPr>
        <p:txBody>
          <a:bodyPr wrap="square" lIns="0" tIns="0" rIns="0" bIns="0" rtlCol="0" anchor="ctr">
            <a:normAutofit/>
          </a:bodyPr>
          <a:lstStyle/>
          <a:p>
            <a:pPr marL="0" indent="0">
              <a:buNone/>
            </a:pPr>
            <a:r>
              <a:rPr lang="en-US" sz="1150" dirty="0">
                <a:solidFill>
                  <a:srgbClr val="56606B"/>
                </a:solidFill>
              </a:rPr>
              <a:t>Present outputs that answer the original problem.</a:t>
            </a:r>
            <a:endParaRPr lang="en-US" sz="1150" dirty="0"/>
          </a:p>
        </p:txBody>
      </p:sp>
      <p:sp>
        <p:nvSpPr>
          <p:cNvPr id="4" name="Shape 2"/>
          <p:cNvSpPr/>
          <p:nvPr/>
        </p:nvSpPr>
        <p:spPr>
          <a:xfrm>
            <a:off x="411480" y="1024128"/>
            <a:ext cx="11338560" cy="0"/>
          </a:xfrm>
          <a:prstGeom prst="line">
            <a:avLst/>
          </a:prstGeom>
          <a:noFill/>
          <a:ln w="12700">
            <a:solidFill>
              <a:srgbClr val="C8D1DD"/>
            </a:solidFill>
            <a:prstDash val="solid"/>
          </a:ln>
        </p:spPr>
      </p:sp>
      <p:sp>
        <p:nvSpPr>
          <p:cNvPr id="5" name="Text 3"/>
          <p:cNvSpPr/>
          <p:nvPr/>
        </p:nvSpPr>
        <p:spPr>
          <a:xfrm>
            <a:off x="411480" y="6510528"/>
            <a:ext cx="6858000" cy="164592"/>
          </a:xfrm>
          <a:prstGeom prst="rect">
            <a:avLst/>
          </a:prstGeom>
          <a:noFill/>
          <a:ln/>
        </p:spPr>
        <p:txBody>
          <a:bodyPr wrap="square" lIns="0" tIns="0" rIns="0" bIns="0" rtlCol="0" anchor="ctr">
            <a:normAutofit/>
          </a:bodyPr>
          <a:lstStyle/>
          <a:p>
            <a:pPr marL="0" indent="0">
              <a:buNone/>
            </a:pPr>
            <a:r>
              <a:rPr lang="en-US" sz="780" dirty="0">
                <a:solidFill>
                  <a:srgbClr val="7A8796"/>
                </a:solidFill>
              </a:rPr>
              <a:t>Tools &amp; Techniques End-to-End Data Pipeline Capstone</a:t>
            </a:r>
            <a:endParaRPr lang="en-US" sz="780" dirty="0"/>
          </a:p>
        </p:txBody>
      </p:sp>
      <p:sp>
        <p:nvSpPr>
          <p:cNvPr id="6" name="Text 4"/>
          <p:cNvSpPr/>
          <p:nvPr/>
        </p:nvSpPr>
        <p:spPr>
          <a:xfrm>
            <a:off x="685800" y="1325880"/>
            <a:ext cx="3429000" cy="914400"/>
          </a:xfrm>
          <a:prstGeom prst="rect">
            <a:avLst/>
          </a:prstGeom>
          <a:solidFill>
            <a:srgbClr val="E8F4EA"/>
          </a:solidFill>
          <a:ln w="10160">
            <a:solidFill>
              <a:srgbClr val="C8D1DD"/>
            </a:solidFill>
          </a:ln>
        </p:spPr>
        <p:txBody>
          <a:bodyPr wrap="square" lIns="1524" tIns="1524" rIns="1524" bIns="1524" rtlCol="0" anchor="t">
            <a:normAutofit lnSpcReduction="10000"/>
          </a:bodyPr>
          <a:lstStyle/>
          <a:p>
            <a:r>
              <a:rPr lang="en-US" sz="1450" b="1" dirty="0">
                <a:solidFill>
                  <a:srgbClr val="073B72"/>
                </a:solidFill>
              </a:rPr>
              <a:t>Key Result 1
</a:t>
            </a:r>
            <a:r>
              <a:rPr lang="en-PK" sz="1600" dirty="0"/>
              <a:t>41 articles scraped </a:t>
            </a:r>
            <a:endParaRPr lang="en-GB" sz="1600" dirty="0"/>
          </a:p>
          <a:p>
            <a:r>
              <a:rPr lang="en-PK" sz="1600" dirty="0"/>
              <a:t>25 unique incidents </a:t>
            </a:r>
            <a:endParaRPr lang="en-GB" sz="1600" dirty="0"/>
          </a:p>
          <a:p>
            <a:r>
              <a:rPr lang="en-PK" sz="1600" dirty="0"/>
              <a:t>22 crime records</a:t>
            </a:r>
            <a:endParaRPr lang="en-US" sz="1450" dirty="0"/>
          </a:p>
        </p:txBody>
      </p:sp>
      <p:sp>
        <p:nvSpPr>
          <p:cNvPr id="7" name="Text 5"/>
          <p:cNvSpPr/>
          <p:nvPr/>
        </p:nvSpPr>
        <p:spPr>
          <a:xfrm>
            <a:off x="4389120" y="1325880"/>
            <a:ext cx="3429000" cy="914400"/>
          </a:xfrm>
          <a:prstGeom prst="rect">
            <a:avLst/>
          </a:prstGeom>
          <a:solidFill>
            <a:srgbClr val="E8F4EA"/>
          </a:solidFill>
          <a:ln w="10160">
            <a:solidFill>
              <a:srgbClr val="C8D1DD"/>
            </a:solidFill>
          </a:ln>
        </p:spPr>
        <p:txBody>
          <a:bodyPr wrap="square" lIns="1524" tIns="1524" rIns="1524" bIns="1524" rtlCol="0" anchor="t">
            <a:normAutofit/>
          </a:bodyPr>
          <a:lstStyle/>
          <a:p>
            <a:r>
              <a:rPr lang="en-US" sz="1450" b="1" dirty="0">
                <a:solidFill>
                  <a:srgbClr val="073B72"/>
                </a:solidFill>
              </a:rPr>
              <a:t>Key Result 2
</a:t>
            </a:r>
            <a:r>
              <a:rPr lang="en-PK" sz="1600" dirty="0"/>
              <a:t>16 city-crime combinations</a:t>
            </a:r>
            <a:endParaRPr lang="en-US" sz="1450" dirty="0"/>
          </a:p>
        </p:txBody>
      </p:sp>
      <p:sp>
        <p:nvSpPr>
          <p:cNvPr id="8" name="Text 6"/>
          <p:cNvSpPr/>
          <p:nvPr/>
        </p:nvSpPr>
        <p:spPr>
          <a:xfrm>
            <a:off x="8077202" y="1348740"/>
            <a:ext cx="3383280" cy="914400"/>
          </a:xfrm>
          <a:prstGeom prst="rect">
            <a:avLst/>
          </a:prstGeom>
          <a:solidFill>
            <a:srgbClr val="E8F4EA"/>
          </a:solidFill>
          <a:ln w="10160">
            <a:solidFill>
              <a:srgbClr val="C8D1DD"/>
            </a:solidFill>
          </a:ln>
        </p:spPr>
        <p:txBody>
          <a:bodyPr wrap="square" lIns="1524" tIns="1524" rIns="1524" bIns="1524" rtlCol="0" anchor="t">
            <a:normAutofit/>
          </a:bodyPr>
          <a:lstStyle/>
          <a:p>
            <a:r>
              <a:rPr lang="en-US" sz="1450" b="1" dirty="0">
                <a:solidFill>
                  <a:srgbClr val="073B72"/>
                </a:solidFill>
              </a:rPr>
              <a:t>Key Result 3
</a:t>
            </a:r>
            <a:r>
              <a:rPr lang="en-PK" sz="1600" dirty="0"/>
              <a:t>12 email alerts generated </a:t>
            </a:r>
            <a:endParaRPr lang="en-GB" sz="1600" dirty="0"/>
          </a:p>
          <a:p>
            <a:r>
              <a:rPr lang="en-PK" sz="1600" dirty="0"/>
              <a:t>10 cities detected</a:t>
            </a:r>
            <a:endParaRPr lang="en-US" sz="1450" dirty="0"/>
          </a:p>
        </p:txBody>
      </p:sp>
      <p:sp>
        <p:nvSpPr>
          <p:cNvPr id="9" name="Text 7"/>
          <p:cNvSpPr/>
          <p:nvPr/>
        </p:nvSpPr>
        <p:spPr>
          <a:xfrm>
            <a:off x="685800" y="2743200"/>
            <a:ext cx="10789920" cy="3730752"/>
          </a:xfrm>
          <a:prstGeom prst="rect">
            <a:avLst/>
          </a:prstGeom>
          <a:solidFill>
            <a:srgbClr val="F4F6F8"/>
          </a:solidFill>
          <a:ln w="10160">
            <a:solidFill>
              <a:srgbClr val="C8D1DD"/>
            </a:solidFill>
          </a:ln>
        </p:spPr>
        <p:txBody>
          <a:bodyPr wrap="square" lIns="1524" tIns="1524" rIns="1524" bIns="1524" rtlCol="0" anchor="t">
            <a:normAutofit/>
          </a:bodyPr>
          <a:lstStyle/>
          <a:p>
            <a:pPr marL="0" indent="0">
              <a:buNone/>
            </a:pPr>
            <a:r>
              <a:rPr lang="en-US" sz="1450" b="1" dirty="0">
                <a:solidFill>
                  <a:srgbClr val="073B72"/>
                </a:solidFill>
              </a:rPr>
              <a:t>Charts / Output Placeholder
</a:t>
            </a:r>
            <a:endParaRPr lang="en-US" sz="1450" dirty="0"/>
          </a:p>
        </p:txBody>
      </p:sp>
      <p:sp>
        <p:nvSpPr>
          <p:cNvPr id="25" name="Slide Number Placeholder 0"/>
          <p:cNvSpPr>
            <a:spLocks noGrp="1"/>
          </p:cNvSpPr>
          <p:nvPr>
            <p:ph type="sldNum" sz="quarter" idx="4294967295"/>
          </p:nvPr>
        </p:nvSpPr>
        <p:spPr>
          <a:xfrm>
            <a:off x="1120140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7A8796"/>
                </a:solidFill>
              </a:defRPr>
            </a:lvl1pPr>
          </a:lstStyle>
          <a:p>
            <a:pPr algn="l"/>
            <a:fld id="{F7021451-1387-4CA6-816F-3879F97B5CBC}" type="slidenum">
              <a:rPr lang="en-US" b="0"/>
              <a:t>21</a:t>
            </a:fld>
            <a:endParaRPr lang="en-US"/>
          </a:p>
        </p:txBody>
      </p:sp>
      <p:pic>
        <p:nvPicPr>
          <p:cNvPr id="15" name="Picture 14">
            <a:extLst>
              <a:ext uri="{FF2B5EF4-FFF2-40B4-BE49-F238E27FC236}">
                <a16:creationId xmlns:a16="http://schemas.microsoft.com/office/drawing/2014/main" id="{78E5EAF9-325B-83CB-6036-08BFA5A66E2B}"/>
              </a:ext>
            </a:extLst>
          </p:cNvPr>
          <p:cNvPicPr>
            <a:picLocks noChangeAspect="1"/>
          </p:cNvPicPr>
          <p:nvPr/>
        </p:nvPicPr>
        <p:blipFill>
          <a:blip r:embed="rId3"/>
          <a:stretch>
            <a:fillRect/>
          </a:stretch>
        </p:blipFill>
        <p:spPr>
          <a:xfrm>
            <a:off x="6455152" y="2871217"/>
            <a:ext cx="4908296" cy="3474719"/>
          </a:xfrm>
          <a:prstGeom prst="rect">
            <a:avLst/>
          </a:prstGeom>
        </p:spPr>
      </p:pic>
      <p:pic>
        <p:nvPicPr>
          <p:cNvPr id="17" name="Picture 16">
            <a:extLst>
              <a:ext uri="{FF2B5EF4-FFF2-40B4-BE49-F238E27FC236}">
                <a16:creationId xmlns:a16="http://schemas.microsoft.com/office/drawing/2014/main" id="{086A1AC0-2C12-D2DD-E14F-30167BD3AEEA}"/>
              </a:ext>
            </a:extLst>
          </p:cNvPr>
          <p:cNvPicPr>
            <a:picLocks noChangeAspect="1"/>
          </p:cNvPicPr>
          <p:nvPr/>
        </p:nvPicPr>
        <p:blipFill>
          <a:blip r:embed="rId4"/>
          <a:stretch>
            <a:fillRect/>
          </a:stretch>
        </p:blipFill>
        <p:spPr>
          <a:xfrm>
            <a:off x="1115136" y="2980945"/>
            <a:ext cx="4814335" cy="336499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11480" y="256032"/>
            <a:ext cx="11338560" cy="411480"/>
          </a:xfrm>
          <a:prstGeom prst="rect">
            <a:avLst/>
          </a:prstGeom>
          <a:noFill/>
          <a:ln/>
        </p:spPr>
        <p:txBody>
          <a:bodyPr wrap="square" lIns="0" tIns="0" rIns="0" bIns="0" rtlCol="0" anchor="ctr">
            <a:normAutofit/>
          </a:bodyPr>
          <a:lstStyle/>
          <a:p>
            <a:pPr marL="0" indent="0">
              <a:buNone/>
            </a:pPr>
            <a:r>
              <a:rPr lang="en-US" sz="2500" b="1" dirty="0">
                <a:solidFill>
                  <a:srgbClr val="073B72"/>
                </a:solidFill>
                <a:latin typeface="Aptos Display" pitchFamily="34" charset="0"/>
                <a:ea typeface="Aptos Display" pitchFamily="34" charset="-122"/>
                <a:cs typeface="Aptos Display" pitchFamily="34" charset="-120"/>
              </a:rPr>
              <a:t>20. Testing and Validation</a:t>
            </a:r>
            <a:endParaRPr lang="en-US" sz="2500" dirty="0"/>
          </a:p>
        </p:txBody>
      </p:sp>
      <p:sp>
        <p:nvSpPr>
          <p:cNvPr id="3" name="Text 1"/>
          <p:cNvSpPr/>
          <p:nvPr/>
        </p:nvSpPr>
        <p:spPr>
          <a:xfrm>
            <a:off x="429768" y="713232"/>
            <a:ext cx="11247120" cy="256032"/>
          </a:xfrm>
          <a:prstGeom prst="rect">
            <a:avLst/>
          </a:prstGeom>
          <a:noFill/>
          <a:ln/>
        </p:spPr>
        <p:txBody>
          <a:bodyPr wrap="square" lIns="0" tIns="0" rIns="0" bIns="0" rtlCol="0" anchor="ctr">
            <a:normAutofit/>
          </a:bodyPr>
          <a:lstStyle/>
          <a:p>
            <a:pPr marL="0" indent="0">
              <a:buNone/>
            </a:pPr>
            <a:r>
              <a:rPr lang="en-US" sz="1150" dirty="0">
                <a:solidFill>
                  <a:srgbClr val="56606B"/>
                </a:solidFill>
              </a:rPr>
              <a:t>Show expected vs actual results.</a:t>
            </a:r>
            <a:endParaRPr lang="en-US" sz="1150" dirty="0"/>
          </a:p>
        </p:txBody>
      </p:sp>
      <p:sp>
        <p:nvSpPr>
          <p:cNvPr id="4" name="Shape 2"/>
          <p:cNvSpPr/>
          <p:nvPr/>
        </p:nvSpPr>
        <p:spPr>
          <a:xfrm>
            <a:off x="411480" y="1024128"/>
            <a:ext cx="11338560" cy="0"/>
          </a:xfrm>
          <a:prstGeom prst="line">
            <a:avLst/>
          </a:prstGeom>
          <a:noFill/>
          <a:ln w="12700">
            <a:solidFill>
              <a:srgbClr val="C8D1DD"/>
            </a:solidFill>
            <a:prstDash val="solid"/>
          </a:ln>
        </p:spPr>
      </p:sp>
      <p:sp>
        <p:nvSpPr>
          <p:cNvPr id="5" name="Text 3"/>
          <p:cNvSpPr/>
          <p:nvPr/>
        </p:nvSpPr>
        <p:spPr>
          <a:xfrm>
            <a:off x="411480" y="6510528"/>
            <a:ext cx="6858000" cy="164592"/>
          </a:xfrm>
          <a:prstGeom prst="rect">
            <a:avLst/>
          </a:prstGeom>
          <a:noFill/>
          <a:ln/>
        </p:spPr>
        <p:txBody>
          <a:bodyPr wrap="square" lIns="0" tIns="0" rIns="0" bIns="0" rtlCol="0" anchor="ctr">
            <a:normAutofit/>
          </a:bodyPr>
          <a:lstStyle/>
          <a:p>
            <a:pPr marL="0" indent="0">
              <a:buNone/>
            </a:pPr>
            <a:r>
              <a:rPr lang="en-US" sz="780" dirty="0">
                <a:solidFill>
                  <a:srgbClr val="7A8796"/>
                </a:solidFill>
              </a:rPr>
              <a:t>Tools &amp; Techniques End-to-End Data Pipeline Capstone</a:t>
            </a:r>
            <a:endParaRPr lang="en-US" sz="780" dirty="0"/>
          </a:p>
        </p:txBody>
      </p:sp>
      <p:sp>
        <p:nvSpPr>
          <p:cNvPr id="6" name="Text 4"/>
          <p:cNvSpPr/>
          <p:nvPr/>
        </p:nvSpPr>
        <p:spPr>
          <a:xfrm>
            <a:off x="502920" y="1325880"/>
            <a:ext cx="11155680" cy="3173889"/>
          </a:xfrm>
          <a:prstGeom prst="rect">
            <a:avLst/>
          </a:prstGeom>
          <a:solidFill>
            <a:srgbClr val="F8FAFC"/>
          </a:solidFill>
          <a:ln w="10160">
            <a:solidFill>
              <a:srgbClr val="C8D1DD"/>
            </a:solidFill>
          </a:ln>
        </p:spPr>
        <p:txBody>
          <a:bodyPr wrap="square" lIns="1143" tIns="1143" rIns="1143" bIns="1143" rtlCol="0" anchor="t">
            <a:normAutofit/>
          </a:bodyPr>
          <a:lstStyle/>
          <a:p>
            <a:pPr marL="0" indent="0">
              <a:buNone/>
            </a:pPr>
            <a:endParaRPr lang="en-US" sz="910" dirty="0"/>
          </a:p>
        </p:txBody>
      </p:sp>
      <p:sp>
        <p:nvSpPr>
          <p:cNvPr id="25" name="Slide Number Placeholder 0"/>
          <p:cNvSpPr>
            <a:spLocks noGrp="1"/>
          </p:cNvSpPr>
          <p:nvPr>
            <p:ph type="sldNum" sz="quarter" idx="4294967295"/>
          </p:nvPr>
        </p:nvSpPr>
        <p:spPr>
          <a:xfrm>
            <a:off x="1120140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7A8796"/>
                </a:solidFill>
              </a:defRPr>
            </a:lvl1pPr>
          </a:lstStyle>
          <a:p>
            <a:pPr algn="l"/>
            <a:fld id="{F7021451-1387-4CA6-816F-3879F97B5CBC}" type="slidenum">
              <a:rPr lang="en-US" b="0"/>
              <a:t>22</a:t>
            </a:fld>
            <a:endParaRPr lang="en-US"/>
          </a:p>
        </p:txBody>
      </p:sp>
      <p:graphicFrame>
        <p:nvGraphicFramePr>
          <p:cNvPr id="8" name="Table 7">
            <a:extLst>
              <a:ext uri="{FF2B5EF4-FFF2-40B4-BE49-F238E27FC236}">
                <a16:creationId xmlns:a16="http://schemas.microsoft.com/office/drawing/2014/main" id="{BDDCAE29-0C05-92B5-2EE5-90DE46FDF54E}"/>
              </a:ext>
            </a:extLst>
          </p:cNvPr>
          <p:cNvGraphicFramePr>
            <a:graphicFrameLocks noGrp="1"/>
          </p:cNvGraphicFramePr>
          <p:nvPr>
            <p:extLst>
              <p:ext uri="{D42A27DB-BD31-4B8C-83A1-F6EECF244321}">
                <p14:modId xmlns:p14="http://schemas.microsoft.com/office/powerpoint/2010/main" val="375974780"/>
              </p:ext>
            </p:extLst>
          </p:nvPr>
        </p:nvGraphicFramePr>
        <p:xfrm>
          <a:off x="960120" y="1591056"/>
          <a:ext cx="10515600" cy="2560320"/>
        </p:xfrm>
        <a:graphic>
          <a:graphicData uri="http://schemas.openxmlformats.org/drawingml/2006/table">
            <a:tbl>
              <a:tblPr/>
              <a:tblGrid>
                <a:gridCol w="2628900">
                  <a:extLst>
                    <a:ext uri="{9D8B030D-6E8A-4147-A177-3AD203B41FA5}">
                      <a16:colId xmlns:a16="http://schemas.microsoft.com/office/drawing/2014/main" val="4151519135"/>
                    </a:ext>
                  </a:extLst>
                </a:gridCol>
                <a:gridCol w="2628900">
                  <a:extLst>
                    <a:ext uri="{9D8B030D-6E8A-4147-A177-3AD203B41FA5}">
                      <a16:colId xmlns:a16="http://schemas.microsoft.com/office/drawing/2014/main" val="820386188"/>
                    </a:ext>
                  </a:extLst>
                </a:gridCol>
                <a:gridCol w="2628900">
                  <a:extLst>
                    <a:ext uri="{9D8B030D-6E8A-4147-A177-3AD203B41FA5}">
                      <a16:colId xmlns:a16="http://schemas.microsoft.com/office/drawing/2014/main" val="519031368"/>
                    </a:ext>
                  </a:extLst>
                </a:gridCol>
                <a:gridCol w="2628900">
                  <a:extLst>
                    <a:ext uri="{9D8B030D-6E8A-4147-A177-3AD203B41FA5}">
                      <a16:colId xmlns:a16="http://schemas.microsoft.com/office/drawing/2014/main" val="1496838244"/>
                    </a:ext>
                  </a:extLst>
                </a:gridCol>
              </a:tblGrid>
              <a:tr h="0">
                <a:tc>
                  <a:txBody>
                    <a:bodyPr/>
                    <a:lstStyle/>
                    <a:p>
                      <a:pPr>
                        <a:buNone/>
                      </a:pPr>
                      <a:r>
                        <a:rPr lang="en-PK" b="1" dirty="0"/>
                        <a:t>Test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b="1" dirty="0"/>
                        <a:t>Expected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b="1" dirty="0"/>
                        <a:t>Actual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b="1" dirty="0"/>
                        <a:t>Status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9339805"/>
                  </a:ext>
                </a:extLst>
              </a:tr>
              <a:tr h="0">
                <a:tc>
                  <a:txBody>
                    <a:bodyPr/>
                    <a:lstStyle/>
                    <a:p>
                      <a:pPr>
                        <a:buNone/>
                      </a:pPr>
                      <a:r>
                        <a:rPr lang="en-PK"/>
                        <a:t>Scraping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Collect articles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41 articles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Pass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15278947"/>
                  </a:ext>
                </a:extLst>
              </a:tr>
              <a:tr h="0">
                <a:tc>
                  <a:txBody>
                    <a:bodyPr/>
                    <a:lstStyle/>
                    <a:p>
                      <a:pPr>
                        <a:buNone/>
                      </a:pPr>
                      <a:r>
                        <a:rPr lang="en-PK"/>
                        <a:t>NLP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Extract fields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Success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Pass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64948562"/>
                  </a:ext>
                </a:extLst>
              </a:tr>
              <a:tr h="0">
                <a:tc>
                  <a:txBody>
                    <a:bodyPr/>
                    <a:lstStyle/>
                    <a:p>
                      <a:pPr>
                        <a:buNone/>
                      </a:pPr>
                      <a:r>
                        <a:rPr lang="en-PK"/>
                        <a:t>ETL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Clean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Success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Pass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19458027"/>
                  </a:ext>
                </a:extLst>
              </a:tr>
              <a:tr h="0">
                <a:tc>
                  <a:txBody>
                    <a:bodyPr/>
                    <a:lstStyle/>
                    <a:p>
                      <a:pPr>
                        <a:buNone/>
                      </a:pPr>
                      <a:r>
                        <a:rPr lang="en-PK"/>
                        <a:t>Airflow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DAG executes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Success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Pass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70756160"/>
                  </a:ext>
                </a:extLst>
              </a:tr>
              <a:tr h="0">
                <a:tc>
                  <a:txBody>
                    <a:bodyPr/>
                    <a:lstStyle/>
                    <a:p>
                      <a:pPr>
                        <a:buNone/>
                      </a:pPr>
                      <a:r>
                        <a:rPr lang="en-PK"/>
                        <a:t>n8n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Alert sent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Success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Pass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07377838"/>
                  </a:ext>
                </a:extLst>
              </a:tr>
              <a:tr h="0">
                <a:tc>
                  <a:txBody>
                    <a:bodyPr/>
                    <a:lstStyle/>
                    <a:p>
                      <a:pPr>
                        <a:buNone/>
                      </a:pPr>
                      <a:r>
                        <a:rPr lang="en-PK"/>
                        <a:t>Dashboard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Load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Success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Pass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60762746"/>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11480" y="256032"/>
            <a:ext cx="11338560" cy="411480"/>
          </a:xfrm>
          <a:prstGeom prst="rect">
            <a:avLst/>
          </a:prstGeom>
          <a:noFill/>
          <a:ln/>
        </p:spPr>
        <p:txBody>
          <a:bodyPr wrap="square" lIns="0" tIns="0" rIns="0" bIns="0" rtlCol="0" anchor="ctr">
            <a:normAutofit/>
          </a:bodyPr>
          <a:lstStyle/>
          <a:p>
            <a:pPr marL="0" indent="0">
              <a:buNone/>
            </a:pPr>
            <a:r>
              <a:rPr lang="en-US" sz="2500" b="1" dirty="0">
                <a:solidFill>
                  <a:srgbClr val="073B72"/>
                </a:solidFill>
                <a:latin typeface="Aptos Display" pitchFamily="34" charset="0"/>
                <a:ea typeface="Aptos Display" pitchFamily="34" charset="-122"/>
                <a:cs typeface="Aptos Display" pitchFamily="34" charset="-120"/>
              </a:rPr>
              <a:t>21. Challenges, Limitations, and Skipped Tools</a:t>
            </a:r>
            <a:endParaRPr lang="en-US" sz="2500" dirty="0"/>
          </a:p>
        </p:txBody>
      </p:sp>
      <p:sp>
        <p:nvSpPr>
          <p:cNvPr id="3" name="Text 1"/>
          <p:cNvSpPr/>
          <p:nvPr/>
        </p:nvSpPr>
        <p:spPr>
          <a:xfrm>
            <a:off x="429768" y="713232"/>
            <a:ext cx="11247120" cy="256032"/>
          </a:xfrm>
          <a:prstGeom prst="rect">
            <a:avLst/>
          </a:prstGeom>
          <a:noFill/>
          <a:ln/>
        </p:spPr>
        <p:txBody>
          <a:bodyPr wrap="square" lIns="0" tIns="0" rIns="0" bIns="0" rtlCol="0" anchor="ctr">
            <a:normAutofit/>
          </a:bodyPr>
          <a:lstStyle/>
          <a:p>
            <a:pPr marL="0" indent="0">
              <a:buNone/>
            </a:pPr>
            <a:r>
              <a:rPr lang="en-US" sz="1150" dirty="0">
                <a:solidFill>
                  <a:srgbClr val="56606B"/>
                </a:solidFill>
              </a:rPr>
              <a:t>Be honest and technical.</a:t>
            </a:r>
            <a:endParaRPr lang="en-US" sz="1150" dirty="0"/>
          </a:p>
        </p:txBody>
      </p:sp>
      <p:sp>
        <p:nvSpPr>
          <p:cNvPr id="4" name="Shape 2"/>
          <p:cNvSpPr/>
          <p:nvPr/>
        </p:nvSpPr>
        <p:spPr>
          <a:xfrm>
            <a:off x="411480" y="1024128"/>
            <a:ext cx="11338560" cy="0"/>
          </a:xfrm>
          <a:prstGeom prst="line">
            <a:avLst/>
          </a:prstGeom>
          <a:noFill/>
          <a:ln w="12700">
            <a:solidFill>
              <a:srgbClr val="C8D1DD"/>
            </a:solidFill>
            <a:prstDash val="solid"/>
          </a:ln>
        </p:spPr>
      </p:sp>
      <p:sp>
        <p:nvSpPr>
          <p:cNvPr id="5" name="Text 3"/>
          <p:cNvSpPr/>
          <p:nvPr/>
        </p:nvSpPr>
        <p:spPr>
          <a:xfrm>
            <a:off x="411480" y="6510528"/>
            <a:ext cx="6858000" cy="164592"/>
          </a:xfrm>
          <a:prstGeom prst="rect">
            <a:avLst/>
          </a:prstGeom>
          <a:noFill/>
          <a:ln/>
        </p:spPr>
        <p:txBody>
          <a:bodyPr wrap="square" lIns="0" tIns="0" rIns="0" bIns="0" rtlCol="0" anchor="ctr">
            <a:normAutofit/>
          </a:bodyPr>
          <a:lstStyle/>
          <a:p>
            <a:pPr marL="0" indent="0">
              <a:buNone/>
            </a:pPr>
            <a:r>
              <a:rPr lang="en-US" sz="780" dirty="0">
                <a:solidFill>
                  <a:srgbClr val="7A8796"/>
                </a:solidFill>
              </a:rPr>
              <a:t>Tools &amp; Techniques End-to-End Data Pipeline Capstone</a:t>
            </a:r>
            <a:endParaRPr lang="en-US" sz="780" dirty="0"/>
          </a:p>
        </p:txBody>
      </p:sp>
      <p:sp>
        <p:nvSpPr>
          <p:cNvPr id="6" name="Text 4"/>
          <p:cNvSpPr/>
          <p:nvPr/>
        </p:nvSpPr>
        <p:spPr>
          <a:xfrm>
            <a:off x="502920" y="1325880"/>
            <a:ext cx="11155680" cy="2971800"/>
          </a:xfrm>
          <a:prstGeom prst="rect">
            <a:avLst/>
          </a:prstGeom>
          <a:solidFill>
            <a:srgbClr val="F8FAFC"/>
          </a:solidFill>
          <a:ln w="10160">
            <a:solidFill>
              <a:srgbClr val="C8D1DD"/>
            </a:solidFill>
          </a:ln>
        </p:spPr>
        <p:txBody>
          <a:bodyPr wrap="square" lIns="1143" tIns="1143" rIns="1143" bIns="1143" rtlCol="0" anchor="t">
            <a:normAutofit/>
          </a:bodyPr>
          <a:lstStyle/>
          <a:p>
            <a:pPr marL="0" indent="0">
              <a:buNone/>
            </a:pPr>
            <a:endParaRPr lang="en-US" sz="940" dirty="0"/>
          </a:p>
        </p:txBody>
      </p:sp>
      <p:sp>
        <p:nvSpPr>
          <p:cNvPr id="25" name="Slide Number Placeholder 0"/>
          <p:cNvSpPr>
            <a:spLocks noGrp="1"/>
          </p:cNvSpPr>
          <p:nvPr>
            <p:ph type="sldNum" sz="quarter" idx="4294967295"/>
          </p:nvPr>
        </p:nvSpPr>
        <p:spPr>
          <a:xfrm>
            <a:off x="1120140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7A8796"/>
                </a:solidFill>
              </a:defRPr>
            </a:lvl1pPr>
          </a:lstStyle>
          <a:p>
            <a:pPr algn="l"/>
            <a:fld id="{F7021451-1387-4CA6-816F-3879F97B5CBC}" type="slidenum">
              <a:rPr lang="en-US" b="0"/>
              <a:t>23</a:t>
            </a:fld>
            <a:endParaRPr lang="en-US"/>
          </a:p>
        </p:txBody>
      </p:sp>
      <p:graphicFrame>
        <p:nvGraphicFramePr>
          <p:cNvPr id="9" name="Table 8">
            <a:extLst>
              <a:ext uri="{FF2B5EF4-FFF2-40B4-BE49-F238E27FC236}">
                <a16:creationId xmlns:a16="http://schemas.microsoft.com/office/drawing/2014/main" id="{19E65C11-94E4-464B-80BF-02CDF75AA8C7}"/>
              </a:ext>
            </a:extLst>
          </p:cNvPr>
          <p:cNvGraphicFramePr>
            <a:graphicFrameLocks noGrp="1"/>
          </p:cNvGraphicFramePr>
          <p:nvPr>
            <p:extLst>
              <p:ext uri="{D42A27DB-BD31-4B8C-83A1-F6EECF244321}">
                <p14:modId xmlns:p14="http://schemas.microsoft.com/office/powerpoint/2010/main" val="2487877031"/>
              </p:ext>
            </p:extLst>
          </p:nvPr>
        </p:nvGraphicFramePr>
        <p:xfrm>
          <a:off x="960120" y="1725685"/>
          <a:ext cx="10515600" cy="1828800"/>
        </p:xfrm>
        <a:graphic>
          <a:graphicData uri="http://schemas.openxmlformats.org/drawingml/2006/table">
            <a:tbl>
              <a:tblPr/>
              <a:tblGrid>
                <a:gridCol w="3505200">
                  <a:extLst>
                    <a:ext uri="{9D8B030D-6E8A-4147-A177-3AD203B41FA5}">
                      <a16:colId xmlns:a16="http://schemas.microsoft.com/office/drawing/2014/main" val="1925479269"/>
                    </a:ext>
                  </a:extLst>
                </a:gridCol>
                <a:gridCol w="3505200">
                  <a:extLst>
                    <a:ext uri="{9D8B030D-6E8A-4147-A177-3AD203B41FA5}">
                      <a16:colId xmlns:a16="http://schemas.microsoft.com/office/drawing/2014/main" val="1585299605"/>
                    </a:ext>
                  </a:extLst>
                </a:gridCol>
                <a:gridCol w="3505200">
                  <a:extLst>
                    <a:ext uri="{9D8B030D-6E8A-4147-A177-3AD203B41FA5}">
                      <a16:colId xmlns:a16="http://schemas.microsoft.com/office/drawing/2014/main" val="2452046719"/>
                    </a:ext>
                  </a:extLst>
                </a:gridCol>
              </a:tblGrid>
              <a:tr h="0">
                <a:tc>
                  <a:txBody>
                    <a:bodyPr/>
                    <a:lstStyle/>
                    <a:p>
                      <a:pPr>
                        <a:buNone/>
                      </a:pPr>
                      <a:r>
                        <a:rPr lang="en-PK" b="1" dirty="0"/>
                        <a:t>Challenge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b="1" dirty="0"/>
                        <a:t>Cause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b="1" dirty="0"/>
                        <a:t>Fix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16401754"/>
                  </a:ext>
                </a:extLst>
              </a:tr>
              <a:tr h="0">
                <a:tc>
                  <a:txBody>
                    <a:bodyPr/>
                    <a:lstStyle/>
                    <a:p>
                      <a:pPr>
                        <a:buNone/>
                      </a:pPr>
                      <a:r>
                        <a:rPr lang="en-PK"/>
                        <a:t>Dynamic Websites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JS Rendering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Selenium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4996731"/>
                  </a:ext>
                </a:extLst>
              </a:tr>
              <a:tr h="0">
                <a:tc>
                  <a:txBody>
                    <a:bodyPr/>
                    <a:lstStyle/>
                    <a:p>
                      <a:pPr>
                        <a:buNone/>
                      </a:pPr>
                      <a:r>
                        <a:rPr lang="en-PK"/>
                        <a:t>Duplicate News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Multi-source reporting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RapidFuzz</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9808903"/>
                  </a:ext>
                </a:extLst>
              </a:tr>
              <a:tr h="0">
                <a:tc>
                  <a:txBody>
                    <a:bodyPr/>
                    <a:lstStyle/>
                    <a:p>
                      <a:pPr>
                        <a:buNone/>
                      </a:pPr>
                      <a:r>
                        <a:rPr lang="en-PK"/>
                        <a:t>Missing Cities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Poor location references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Custom city matcher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32171402"/>
                  </a:ext>
                </a:extLst>
              </a:tr>
              <a:tr h="0">
                <a:tc>
                  <a:txBody>
                    <a:bodyPr/>
                    <a:lstStyle/>
                    <a:p>
                      <a:pPr>
                        <a:buNone/>
                      </a:pPr>
                      <a:r>
                        <a:rPr lang="en-PK"/>
                        <a:t>Site Changes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a:t>HTML updates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PK" dirty="0"/>
                        <a:t>Modular scrapers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8054715"/>
                  </a:ext>
                </a:extLst>
              </a:tr>
            </a:tbl>
          </a:graphicData>
        </a:graphic>
      </p:graphicFrame>
      <p:sp>
        <p:nvSpPr>
          <p:cNvPr id="10" name="TextBox 9">
            <a:extLst>
              <a:ext uri="{FF2B5EF4-FFF2-40B4-BE49-F238E27FC236}">
                <a16:creationId xmlns:a16="http://schemas.microsoft.com/office/drawing/2014/main" id="{8C59D414-0B8D-3354-9847-4AB692356E42}"/>
              </a:ext>
            </a:extLst>
          </p:cNvPr>
          <p:cNvSpPr txBox="1"/>
          <p:nvPr/>
        </p:nvSpPr>
        <p:spPr>
          <a:xfrm>
            <a:off x="757382" y="4483545"/>
            <a:ext cx="5338618" cy="923330"/>
          </a:xfrm>
          <a:prstGeom prst="rect">
            <a:avLst/>
          </a:prstGeom>
          <a:noFill/>
        </p:spPr>
        <p:txBody>
          <a:bodyPr wrap="square" rtlCol="0">
            <a:spAutoFit/>
          </a:bodyPr>
          <a:lstStyle/>
          <a:p>
            <a:r>
              <a:rPr lang="en-PK" b="1" dirty="0"/>
              <a:t>Limitation</a:t>
            </a:r>
          </a:p>
          <a:p>
            <a:r>
              <a:rPr lang="en-PK" dirty="0"/>
              <a:t>English articles only.</a:t>
            </a:r>
          </a:p>
          <a:p>
            <a:endParaRPr lang="en-PK"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117</TotalTime>
  <Words>1636</Words>
  <Application>Microsoft Office PowerPoint</Application>
  <PresentationFormat>Widescreen</PresentationFormat>
  <Paragraphs>419</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Aptos</vt:lpstr>
      <vt:lpstr>Aptos Display</vt: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 Presentation Template</dc:title>
  <dc:subject>Capstone Project Presentation Template</dc:subject>
  <dc:creator>OpenAI</dc:creator>
  <cp:lastModifiedBy>Zeeshan Zahid</cp:lastModifiedBy>
  <cp:revision>5</cp:revision>
  <dcterms:created xsi:type="dcterms:W3CDTF">2026-06-14T09:11:29Z</dcterms:created>
  <dcterms:modified xsi:type="dcterms:W3CDTF">2026-06-17T19:15:20Z</dcterms:modified>
</cp:coreProperties>
</file>